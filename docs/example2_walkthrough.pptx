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09560" y="0"/>
            <a:ext cx="1234440" cy="6858000"/>
          </a:xfrm>
          <a:prstGeom prst="rect">
            <a:avLst/>
          </a:prstGeom>
          <a:solidFill>
            <a:srgbClr val="FAFAFA"/>
          </a:solidFill>
          <a:ln w="9525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8001000" y="274320"/>
            <a:ext cx="1051560" cy="6309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>
                <a:solidFill>
                  <a:srgbClr val="141414"/>
                </a:solidFill>
                <a:latin typeface="Aptos"/>
              </a:defRPr>
            </a:pPr>
            <a:r>
              <a:t>Puzzle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6812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E6E6E6"/>
                </a:solidFill>
                <a:latin typeface="Aptos"/>
              </a:rPr>
              <a:t>A servo is an electric motor that can move to a specified angle.</a:t>
            </a:r>
          </a:p>
        </p:txBody>
      </p:sp>
      <p:pic>
        <p:nvPicPr>
          <p:cNvPr id="6" name="Picture 5" descr="2_puzzl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468" y="1691640"/>
            <a:ext cx="467062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use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std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thread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use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std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time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Duration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`Servo` is an abstract contract (a trait), not a concrete driver.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trait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set_degrees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degrees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u16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is also abstract. It extends `Servo` (supertrait), so any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in `Servo` plus animation.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trait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6A9955"/>
                </a:solidFill>
                <a:latin typeface="Consolas"/>
              </a:rPr>
              <a:t>// (degrees, milliseconds to hold at that angle)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animate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steps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586C0"/>
                </a:solidFill>
                <a:latin typeface="Consolas"/>
              </a:rPr>
              <a:t>u16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u64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driver (similar naming to the real example): `ServoEsp`.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struct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ServoEsp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ServoEsp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set_degrees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degrees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u16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AA"/>
                </a:solidFill>
                <a:latin typeface="Consolas"/>
              </a:rPr>
              <a:t>println!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[ServoEsp] set angle -&gt; {degrees}°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Concrete servo player driver that can animate.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struct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4EC9B0"/>
                </a:solidFill>
                <a:latin typeface="Consolas"/>
              </a:rPr>
              <a:t>ServoPlayerEsp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ServoPlayerEsp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set_degrees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degrees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u16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AA"/>
                </a:solidFill>
                <a:latin typeface="Consolas"/>
              </a:rPr>
              <a:t>println!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[ServoPlayerEsp] set angle -&gt; {degrees}°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ServoPlayerEsp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animate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steps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586C0"/>
                </a:solidFill>
                <a:latin typeface="Consolas"/>
              </a:rPr>
              <a:t>u16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u64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C586C0"/>
                </a:solidFill>
                <a:latin typeface="Consolas"/>
              </a:rPr>
              <a:t>for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degrees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ms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in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steps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4EC9B0"/>
                </a:solidFill>
                <a:latin typeface="Consolas"/>
              </a:rPr>
              <a:t>self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set_degrees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*</a:t>
            </a:r>
            <a:r>
              <a:rPr sz="1600">
                <a:solidFill>
                  <a:srgbClr val="DCDCDC"/>
                </a:solidFill>
                <a:latin typeface="Consolas"/>
              </a:rPr>
              <a:t>degrees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AA"/>
                </a:solidFill>
                <a:latin typeface="Consolas"/>
              </a:rPr>
              <a:t>println!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CE9178"/>
                </a:solidFill>
                <a:latin typeface="Consolas"/>
              </a:rPr>
              <a:t>[ServoPlayerEsp] hold for {ms}ms</a:t>
            </a:r>
            <a:r>
              <a:rPr sz="1600">
                <a:solidFill>
                  <a:srgbClr val="CE9178"/>
                </a:solidFill>
                <a:latin typeface="Consolas"/>
              </a:rPr>
              <a:t>"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    </a:t>
            </a:r>
            <a:r>
              <a:rPr sz="1600">
                <a:solidFill>
                  <a:srgbClr val="DCDCDC"/>
                </a:solidFill>
                <a:latin typeface="Consolas"/>
              </a:rPr>
              <a:t>thread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sleep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Duration</a:t>
            </a:r>
            <a:r>
              <a:rPr sz="1600">
                <a:solidFill>
                  <a:srgbClr val="DCDCDC"/>
                </a:solidFill>
                <a:latin typeface="Consolas"/>
              </a:rPr>
              <a:t>::</a:t>
            </a:r>
            <a:r>
              <a:rPr sz="1600">
                <a:solidFill>
                  <a:srgbClr val="DCDCDC"/>
                </a:solidFill>
                <a:latin typeface="Consolas"/>
              </a:rPr>
              <a:t>from_millis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*</a:t>
            </a:r>
            <a:r>
              <a:rPr sz="1600">
                <a:solidFill>
                  <a:srgbClr val="DCDCDC"/>
                </a:solidFill>
                <a:latin typeface="Consolas"/>
              </a:rPr>
              <a:t>ms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only needs a `Servo`.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center_servo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set_degrees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90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6A9955"/>
                </a:solidFill>
                <a:latin typeface="Consolas"/>
              </a:rPr>
              <a:t>// Generic program that needs a `ServoPlayer`.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run_wave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player</a:t>
            </a:r>
            <a:r>
              <a:rPr sz="1600">
                <a:solidFill>
                  <a:srgbClr val="DCDCDC"/>
                </a:solidFill>
                <a:latin typeface="Consolas"/>
              </a:rPr>
              <a:t>: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C586C0"/>
                </a:solidFill>
                <a:latin typeface="Consolas"/>
              </a:rPr>
              <a:t>&amp;</a:t>
            </a:r>
            <a:r>
              <a:rPr sz="1600">
                <a:solidFill>
                  <a:srgbClr val="4EC9B0"/>
                </a:solidFill>
                <a:latin typeface="Consolas"/>
              </a:rPr>
              <a:t>impl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player</a:t>
            </a:r>
            <a:r>
              <a:rPr sz="1600">
                <a:solidFill>
                  <a:srgbClr val="DCDCDC"/>
                </a:solidFill>
                <a:latin typeface="Consolas"/>
              </a:rPr>
              <a:t>.</a:t>
            </a:r>
            <a:r>
              <a:rPr sz="1600">
                <a:solidFill>
                  <a:srgbClr val="DCDCDC"/>
                </a:solidFill>
                <a:latin typeface="Consolas"/>
              </a:rPr>
              <a:t>animate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[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120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8814816" cy="6638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45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90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135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180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120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135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90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45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100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    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B5CEA8"/>
                </a:solidFill>
                <a:latin typeface="Consolas"/>
              </a:rPr>
              <a:t>0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B5CEA8"/>
                </a:solidFill>
                <a:latin typeface="Consolas"/>
              </a:rPr>
              <a:t>120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,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]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C586C0"/>
                </a:solidFill>
                <a:latin typeface="Consolas"/>
              </a:rPr>
              <a:t>fn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AA"/>
                </a:solidFill>
                <a:latin typeface="Consolas"/>
              </a:rPr>
              <a:t>main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{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ServoEsp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C586C0"/>
                </a:solidFill>
                <a:latin typeface="Consolas"/>
              </a:rPr>
              <a:t>let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servo_player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=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DCDCDC"/>
                </a:solidFill>
                <a:latin typeface="Consolas"/>
              </a:rPr>
              <a:t>ServoPlayerEsp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center_servo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servo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center_servo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servo_player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  <a:r>
              <a:rPr sz="1600">
                <a:solidFill>
                  <a:srgbClr val="DCDCDC"/>
                </a:solidFill>
                <a:latin typeface="Consolas"/>
              </a:rPr>
              <a:t> </a:t>
            </a:r>
            <a:r>
              <a:rPr sz="1600">
                <a:solidFill>
                  <a:srgbClr val="6A9955"/>
                </a:solidFill>
                <a:latin typeface="Consolas"/>
              </a:rPr>
              <a:t>// `ServoPlayer` can do everything `Servo` can!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    </a:t>
            </a:r>
            <a:r>
              <a:rPr sz="1600">
                <a:solidFill>
                  <a:srgbClr val="DCDCDC"/>
                </a:solidFill>
                <a:latin typeface="Consolas"/>
              </a:rPr>
              <a:t>run_wave</a:t>
            </a:r>
            <a:r>
              <a:rPr sz="1600">
                <a:solidFill>
                  <a:srgbClr val="DCDCDC"/>
                </a:solidFill>
                <a:latin typeface="Consolas"/>
              </a:rPr>
              <a:t>(</a:t>
            </a:r>
            <a:r>
              <a:rPr sz="1600">
                <a:solidFill>
                  <a:srgbClr val="DCDCDC"/>
                </a:solidFill>
                <a:latin typeface="Consolas"/>
              </a:rPr>
              <a:t>&amp;</a:t>
            </a:r>
            <a:r>
              <a:rPr sz="1600">
                <a:solidFill>
                  <a:srgbClr val="DCDCDC"/>
                </a:solidFill>
                <a:latin typeface="Consolas"/>
              </a:rPr>
              <a:t>servo_player</a:t>
            </a:r>
            <a:r>
              <a:rPr sz="1600">
                <a:solidFill>
                  <a:srgbClr val="DCDCDC"/>
                </a:solidFill>
                <a:latin typeface="Consolas"/>
              </a:rPr>
              <a:t>)</a:t>
            </a:r>
            <a:r>
              <a:rPr sz="1600">
                <a:solidFill>
                  <a:srgbClr val="DCDCDC"/>
                </a:solidFill>
                <a:latin typeface="Consolas"/>
              </a:rPr>
              <a:t>;</a:t>
            </a:r>
          </a:p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DCDCDC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