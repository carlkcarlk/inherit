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88a42e7f3724b12" /><Relationship Type="http://schemas.openxmlformats.org/package/2006/relationships/metadata/core-properties" Target="/docProps/core.xml" Id="R7de32e79671c46a8" /><Relationship Type="http://schemas.openxmlformats.org/officeDocument/2006/relationships/extended-properties" Target="/docProps/app.xml" Id="Rd4e057dc9860430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6c726f20768c4ba4"/>
  </p:sldMasterIdLst>
  <p:sldIdLst>
    <p:sldId id="256" r:id="Ra44f4aa52b3f4471"/>
    <p:sldId id="257" r:id="R5a5f9d4e3667425d"/>
    <p:sldId id="258" r:id="R6b05bd930adc4138"/>
    <p:sldId id="259" r:id="R076fab4bcdfc441f"/>
    <p:sldId id="260" r:id="R712d718a78674043"/>
    <p:sldId id="261" r:id="R2eb849edc6a44903"/>
    <p:sldId id="262" r:id="R0ccb13e9da09424c"/>
    <p:sldId id="263" r:id="R7e0030647be14b30"/>
    <p:sldId id="264" r:id="R060ce0c6a19240a0"/>
    <p:sldId id="265" r:id="R30c01b8226b94ac1"/>
    <p:sldId id="266" r:id="R766cc790d33741e9"/>
    <p:sldId id="267" r:id="R4d822bbc9e664f09"/>
    <p:sldId id="268" r:id="R84b69e6f5d4247d9"/>
    <p:sldId id="269" r:id="R96931d268a3a488b"/>
    <p:sldId id="270" r:id="R64110361ff824948"/>
    <p:sldId id="271" r:id="R6e0121c0ff514c30"/>
    <p:sldId id="272" r:id="R0ce582bc30204089"/>
    <p:sldId id="273" r:id="R76c36acd34b14378"/>
    <p:sldId id="274" r:id="Rc2db42a2586f41f9"/>
    <p:sldId id="275" r:id="R898e98e217664ec1"/>
    <p:sldId id="276" r:id="R2a7492201dc346c8"/>
    <p:sldId id="277" r:id="R874b125befe74646"/>
    <p:sldId id="278" r:id="R734ca976ea2d41b5"/>
    <p:sldId id="279" r:id="Rf28af67f48f0476c"/>
    <p:sldId id="280" r:id="R2e90f89e5b63453d"/>
    <p:sldId id="281" r:id="R0ba956bee4a249bf"/>
    <p:sldId id="282" r:id="Read64a8e100b452b"/>
    <p:sldId id="283" r:id="Ra499bd548610498d"/>
    <p:sldId id="284" r:id="R660e2c68da3e4629"/>
    <p:sldId id="285" r:id="R5969eb2a1c384744"/>
    <p:sldId id="286" r:id="R0ae50ef3a6e741e2"/>
    <p:sldId id="287" r:id="Rb0b61f8e49224d84"/>
    <p:sldId id="288" r:id="Rc729f0c4913f42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79f8978e6b774bbc" /><Relationship Type="http://schemas.openxmlformats.org/officeDocument/2006/relationships/viewProps" Target="/ppt/viewProps.xml" Id="Ra502b0ab65b3459f" /><Relationship Type="http://schemas.openxmlformats.org/officeDocument/2006/relationships/slideMaster" Target="/ppt/slideMasters/slideMaster1.xml" Id="R6c726f20768c4ba4" /><Relationship Type="http://schemas.openxmlformats.org/officeDocument/2006/relationships/theme" Target="/ppt/slideMasters/theme/theme1.xml" Id="Rfcf8be1f9b014a9b" /><Relationship Type="http://schemas.openxmlformats.org/officeDocument/2006/relationships/slide" Target="/ppt/slides/slide1.xml" Id="Ra44f4aa52b3f4471" /><Relationship Type="http://schemas.openxmlformats.org/officeDocument/2006/relationships/slide" Target="/ppt/slides/slide2.xml" Id="R5a5f9d4e3667425d" /><Relationship Type="http://schemas.openxmlformats.org/officeDocument/2006/relationships/slide" Target="/ppt/slides/slide3.xml" Id="R6b05bd930adc4138" /><Relationship Type="http://schemas.openxmlformats.org/officeDocument/2006/relationships/slide" Target="/ppt/slides/slide4.xml" Id="R076fab4bcdfc441f" /><Relationship Type="http://schemas.openxmlformats.org/officeDocument/2006/relationships/slide" Target="/ppt/slides/slide5.xml" Id="R712d718a78674043" /><Relationship Type="http://schemas.openxmlformats.org/officeDocument/2006/relationships/slide" Target="/ppt/slides/slide6.xml" Id="R2eb849edc6a44903" /><Relationship Type="http://schemas.openxmlformats.org/officeDocument/2006/relationships/slide" Target="/ppt/slides/slide7.xml" Id="R0ccb13e9da09424c" /><Relationship Type="http://schemas.openxmlformats.org/officeDocument/2006/relationships/slide" Target="/ppt/slides/slide8.xml" Id="R7e0030647be14b30" /><Relationship Type="http://schemas.openxmlformats.org/officeDocument/2006/relationships/slide" Target="/ppt/slides/slide9.xml" Id="R060ce0c6a19240a0" /><Relationship Type="http://schemas.openxmlformats.org/officeDocument/2006/relationships/slide" Target="/ppt/slides/slide10.xml" Id="R30c01b8226b94ac1" /><Relationship Type="http://schemas.openxmlformats.org/officeDocument/2006/relationships/slide" Target="/ppt/slides/slide11.xml" Id="R766cc790d33741e9" /><Relationship Type="http://schemas.openxmlformats.org/officeDocument/2006/relationships/slide" Target="/ppt/slides/slide12.xml" Id="R4d822bbc9e664f09" /><Relationship Type="http://schemas.openxmlformats.org/officeDocument/2006/relationships/slide" Target="/ppt/slides/slide13.xml" Id="R84b69e6f5d4247d9" /><Relationship Type="http://schemas.openxmlformats.org/officeDocument/2006/relationships/slide" Target="/ppt/slides/slide14.xml" Id="R96931d268a3a488b" /><Relationship Type="http://schemas.openxmlformats.org/officeDocument/2006/relationships/slide" Target="/ppt/slides/slide15.xml" Id="R64110361ff824948" /><Relationship Type="http://schemas.openxmlformats.org/officeDocument/2006/relationships/slide" Target="/ppt/slides/slide16.xml" Id="R6e0121c0ff514c30" /><Relationship Type="http://schemas.openxmlformats.org/officeDocument/2006/relationships/slide" Target="/ppt/slides/slide17.xml" Id="R0ce582bc30204089" /><Relationship Type="http://schemas.openxmlformats.org/officeDocument/2006/relationships/slide" Target="/ppt/slides/slide18.xml" Id="R76c36acd34b14378" /><Relationship Type="http://schemas.openxmlformats.org/officeDocument/2006/relationships/slide" Target="/ppt/slides/slide19.xml" Id="Rc2db42a2586f41f9" /><Relationship Type="http://schemas.openxmlformats.org/officeDocument/2006/relationships/slide" Target="/ppt/slides/slide20.xml" Id="R898e98e217664ec1" /><Relationship Type="http://schemas.openxmlformats.org/officeDocument/2006/relationships/slide" Target="/ppt/slides/slide21.xml" Id="R2a7492201dc346c8" /><Relationship Type="http://schemas.openxmlformats.org/officeDocument/2006/relationships/slide" Target="/ppt/slides/slide22.xml" Id="R874b125befe74646" /><Relationship Type="http://schemas.openxmlformats.org/officeDocument/2006/relationships/slide" Target="/ppt/slides/slide23.xml" Id="R734ca976ea2d41b5" /><Relationship Type="http://schemas.openxmlformats.org/officeDocument/2006/relationships/slide" Target="/ppt/slides/slide24.xml" Id="Rf28af67f48f0476c" /><Relationship Type="http://schemas.openxmlformats.org/officeDocument/2006/relationships/slide" Target="/ppt/slides/slide25.xml" Id="R2e90f89e5b63453d" /><Relationship Type="http://schemas.openxmlformats.org/officeDocument/2006/relationships/slide" Target="/ppt/slides/slide26.xml" Id="R0ba956bee4a249bf" /><Relationship Type="http://schemas.openxmlformats.org/officeDocument/2006/relationships/slide" Target="/ppt/slides/slide27.xml" Id="Read64a8e100b452b" /><Relationship Type="http://schemas.openxmlformats.org/officeDocument/2006/relationships/slide" Target="/ppt/slides/slide28.xml" Id="Ra499bd548610498d" /><Relationship Type="http://schemas.openxmlformats.org/officeDocument/2006/relationships/slide" Target="/ppt/slides/slide29.xml" Id="R660e2c68da3e4629" /><Relationship Type="http://schemas.openxmlformats.org/officeDocument/2006/relationships/slide" Target="/ppt/slides/slide30.xml" Id="R5969eb2a1c384744" /><Relationship Type="http://schemas.openxmlformats.org/officeDocument/2006/relationships/slide" Target="/ppt/slides/slide31.xml" Id="R0ae50ef3a6e741e2" /><Relationship Type="http://schemas.openxmlformats.org/officeDocument/2006/relationships/slide" Target="/ppt/slides/slide32.xml" Id="Rb0b61f8e49224d84" /><Relationship Type="http://schemas.openxmlformats.org/officeDocument/2006/relationships/slide" Target="/ppt/slides/slide33.xml" Id="Rc729f0c4913f429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2c392a1c54e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1d41e222d43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e2681ec3045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e3d4c52ba48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93523e6d24e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b05ee47d644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436256f8848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7c71ad3b64f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e99fa9cc747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609f5a379439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5bcc2a8e24cb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FDBD-2714-B5D4-12AE-033F1E12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2837-657E-A0AA-46AC-98CE248E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F37E0-BA60-3066-9983-268F5B8E4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550EC-E6FC-9972-9F04-333EEC9D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5BC65-0E2E-4869-E23F-DC99CA27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08B81-651F-1EBA-528C-DD239A6E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4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0E2A-7ADF-7300-63E9-DA6B300C2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C78D4-901D-9AB8-91C6-B78DA7F6C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782B7-C015-EB01-00B0-B38ABA0E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7D0D-7D2D-D754-46F2-0D39732C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42E20-DA12-B9A8-3092-7FC37667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1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EE5EDE-7822-A6EB-3E16-42BEE79D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733FA-80FB-5EFB-195C-5414A06F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C0628-A297-40C7-1E37-CEC58AAC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1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58ED-4B9D-E3D4-1CBE-0A9A01F7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08EE8-7FA3-326F-FA4B-F5B01DFD5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C277E-D431-2441-2DD3-C4CD31181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60D07-1C8E-D2D9-533C-B4C6BE26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2F3D4-BF7F-4570-63A6-06207A77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9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F2C1-7887-3BC7-C7F4-32CB6153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3A5F9-1EC2-9DB8-718D-5B6FE1E1E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F8985-A9D0-3657-335C-5C7CC12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66855-5618-7D5E-2954-0D9AA5B1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709C9-CFC6-4A2F-C297-6FC47C3D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D076-1828-0798-66D4-CF7FA1CF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DE68A-C2EB-0EFC-C943-C955B102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051DB-131D-9184-EE2D-CDE9F30A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F9358-1991-EC27-DAD3-9E74CA43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4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13328-43CA-A971-E75B-4CF33B678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D1269-180F-1A6A-3115-C26E61C34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A83CE-9E5E-DD36-F216-390F504E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1014F-095A-AEC3-249E-B6BEFDA4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8320-2036-9CE8-E11A-A810B397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9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F583-AD01-B42D-73AD-E3C80BB8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096EC-67B8-4DF4-3DEA-2CE2054C7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F6B32-B0CC-3476-7DA8-3D0A4E2E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6F9A9-5833-AC94-5D9D-74B55090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02853-5DB8-1173-8EB9-09BA6197F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81E33-ED2A-E2F6-9B79-3446EE55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953E6-6F86-63AD-6AE8-5726BFC4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55A4A-FF60-44DD-8D80-58F729D2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9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5F14-1B27-149D-93B5-F794DA3C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1B88B-9CCD-C404-3F49-6567CFAFE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08553-D20A-F470-6E4C-6A89C374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000E-9984-9798-CCCA-CFC79097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7A446-E51D-DE13-D15A-9C6379B9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1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C1C9-70D1-A3C3-21BF-AF3C7079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CB427-459D-4E82-E333-B809ADB13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884C1-F6AD-9078-95A8-5DEA93B86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3748A-5E70-EB15-C881-B148C6664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098AE-2F11-2680-53F6-2E3F10F8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EAC18-E39B-B95C-BA8F-54228160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9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46BD-EFA1-F408-2727-CB344B0D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BE7E6-9F35-080E-B0C3-73A1047AC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9F201-7F37-C293-079B-7BC741C70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27F25-F0ED-5E33-8758-B5193FCC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D4B15-3A09-B570-6A72-5FAA66A8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05491-6FD0-0237-46C0-CE41EBC6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5579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f5e1ba237a4402c" /><Relationship Type="http://schemas.openxmlformats.org/officeDocument/2006/relationships/slideLayout" Target="/ppt/slideLayouts/slideLayout1.xml" Id="Rfd450261dabf4db0" /><Relationship Type="http://schemas.openxmlformats.org/officeDocument/2006/relationships/slideLayout" Target="/ppt/slideLayouts/slideLayout2.xml" Id="R059402ed6fa34e45" /><Relationship Type="http://schemas.openxmlformats.org/officeDocument/2006/relationships/slideLayout" Target="/ppt/slideLayouts/slideLayout3.xml" Id="R81a772a92af345c1" /><Relationship Type="http://schemas.openxmlformats.org/officeDocument/2006/relationships/slideLayout" Target="/ppt/slideLayouts/slideLayout4.xml" Id="Rcf8b5bd8f8a84530" /><Relationship Type="http://schemas.openxmlformats.org/officeDocument/2006/relationships/slideLayout" Target="/ppt/slideLayouts/slideLayout5.xml" Id="R826d733e01ab4887" /><Relationship Type="http://schemas.openxmlformats.org/officeDocument/2006/relationships/slideLayout" Target="/ppt/slideLayouts/slideLayout6.xml" Id="Rfe6a22cdd7b6437c" /><Relationship Type="http://schemas.openxmlformats.org/officeDocument/2006/relationships/slideLayout" Target="/ppt/slideLayouts/slideLayout7.xml" Id="R4bc621b08491441c" /><Relationship Type="http://schemas.openxmlformats.org/officeDocument/2006/relationships/slideLayout" Target="/ppt/slideLayouts/slideLayout8.xml" Id="R6d9974bb1e494a75" /><Relationship Type="http://schemas.openxmlformats.org/officeDocument/2006/relationships/slideLayout" Target="/ppt/slideLayouts/slideLayout9.xml" Id="Rf22fa8818c6f4aea" /><Relationship Type="http://schemas.openxmlformats.org/officeDocument/2006/relationships/slideLayout" Target="/ppt/slideLayouts/slideLayout10.xml" Id="Ra9d546a12c03436c" /><Relationship Type="http://schemas.openxmlformats.org/officeDocument/2006/relationships/slideLayout" Target="/ppt/slideLayouts/slideLayout11.xml" Id="Re476940c3db44dc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71283-4A4B-7FED-6203-7744F7FF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C1CCC-B4A0-2120-6215-2F796F54F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A461-D397-08F3-4616-1A522ED91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8E3C9-D613-4CEE-BBBF-192C1F40DF69}" type="datetimeFigureOut">
              <a:rPr lang="en-US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77881-B858-E4D3-FE56-8B7B80649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63F01-F0CD-6ADE-8AEF-970B0F4FD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2A570-D620-4D74-B044-28AC27C0527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7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826d733e01ab4887"/>
    <p:sldLayoutId id="2147483652" r:id="Rcf8b5bd8f8a84530"/>
    <p:sldLayoutId id="2147483650" r:id="R059402ed6fa34e45"/>
    <p:sldLayoutId id="2147483658" r:id="Ra9d546a12c03436c"/>
    <p:sldLayoutId id="2147483656" r:id="R6d9974bb1e494a75"/>
    <p:sldLayoutId id="2147483654" r:id="Rfe6a22cdd7b6437c"/>
    <p:sldLayoutId id="2147483651" r:id="R81a772a92af345c1"/>
    <p:sldLayoutId id="2147483649" r:id="Rfd450261dabf4db0"/>
    <p:sldLayoutId id="2147483659" r:id="Re476940c3db44dc9"/>
    <p:sldLayoutId id="2147483657" r:id="Rf22fa8818c6f4aea"/>
    <p:sldLayoutId id="2147483655" r:id="R4bc621b08491441c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ca29b187fb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0a788ec04c14c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4cde59044749471e" /><Relationship Type="http://schemas.openxmlformats.org/officeDocument/2006/relationships/slideLayout" Target="/ppt/slideLayouts/slideLayout3.xml" Id="Rbdcebd167a6c41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4e1f7f088c4e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b20b90e2fe41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.bin" Id="R59c51dedbe8a455f" /><Relationship Type="http://schemas.openxmlformats.org/officeDocument/2006/relationships/slideLayout" Target="/ppt/slideLayouts/slideLayout3.xml" Id="Rd331629b13fd46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a0d83aef6043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aeb58242b74e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825e54e17a4d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3.bin" Id="R8bdd9497e9b447c6" /><Relationship Type="http://schemas.openxmlformats.org/officeDocument/2006/relationships/slideLayout" Target="/ppt/slideLayouts/slideLayout3.xml" Id="R23490c2691af42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d2a3d168984a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4.bin" Id="R8f1145e4775a4b7b" /><Relationship Type="http://schemas.openxmlformats.org/officeDocument/2006/relationships/slideLayout" Target="/ppt/slideLayouts/slideLayout3.xml" Id="R175871797d1e40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00b0ca5e8d46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5.bin" Id="Rd66f7ce7b3044fea" /><Relationship Type="http://schemas.openxmlformats.org/officeDocument/2006/relationships/slideLayout" Target="/ppt/slideLayouts/slideLayout3.xml" Id="Ra49feb6a7ff14c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670a08ea7b4a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0ae3bd1ced41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6.bin" Id="R4b89413f01ba4bf5" /><Relationship Type="http://schemas.openxmlformats.org/officeDocument/2006/relationships/slideLayout" Target="/ppt/slideLayouts/slideLayout3.xml" Id="Rc3244311f64d4b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eca11b752a4b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9cb44e69154c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2ff953418a43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7.bin" Id="Raf67323c10344015" /><Relationship Type="http://schemas.openxmlformats.org/officeDocument/2006/relationships/slideLayout" Target="/ppt/slideLayouts/slideLayout3.xml" Id="Rdedeccd7db0b41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970cb03a5945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4848a7445e4c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bb05a30ce244d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7f4eda083547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8.bin" Id="R6b9efc9dd198439d" /><Relationship Type="http://schemas.openxmlformats.org/officeDocument/2006/relationships/slideLayout" Target="/ppt/slideLayouts/slideLayout3.xml" Id="R992e02da707043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ef154e40a644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672cc1491f4a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9.bin" Id="Ra4ef8d5feb4f4235" /><Relationship Type="http://schemas.openxmlformats.org/officeDocument/2006/relationships/slideLayout" Target="/ppt/slideLayouts/slideLayout3.xml" Id="R6fa90674e978401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eeb76f26ec483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70fe282a1543e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bf391c2fb04b7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7ba634000ff493b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8CDA-0A94-52A6-B5BF-5E6FE93DAC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Nine Ways to Inherit in Rust</a:t>
            </a:r>
            <a:br>
              <a:rPr lang="en-US" dirty="0"/>
            </a:br>
            <a:r>
              <a:rPr lang="en-US" dirty="0"/>
              <a:t>a Language without 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ACCAE-E40C-0B05-154A-6C2C8FC90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76143"/>
            <a:ext cx="9144000" cy="565879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Carl Kadie · github.com/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CarlKCarlK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/rust-inherit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1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1BC1-F091-430C-6359-552E57374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E78B-2493-C37F-4EB5-71E816AF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 has </a:t>
            </a:r>
            <a:r>
              <a:rPr lang="en-US" b="1" dirty="0"/>
              <a:t>objects</a:t>
            </a:r>
            <a:r>
              <a:rPr lang="en-US" dirty="0"/>
              <a:t>, but not class </a:t>
            </a:r>
            <a:r>
              <a:rPr lang="en-US" b="1" dirty="0"/>
              <a:t>inheritance</a:t>
            </a:r>
          </a:p>
          <a:p>
            <a:r>
              <a:rPr lang="en-US" dirty="0"/>
              <a:t>Defining “object-oriented” is controversial</a:t>
            </a:r>
          </a:p>
          <a:p>
            <a:pPr lvl="1"/>
            <a:r>
              <a:rPr lang="en-US" dirty="0"/>
              <a:t>Skip that debate</a:t>
            </a:r>
          </a:p>
          <a:p>
            <a:pPr lvl="1"/>
            <a:r>
              <a:rPr lang="en-US" dirty="0"/>
              <a:t>How do we share behavior across related types?</a:t>
            </a:r>
          </a:p>
          <a:p>
            <a:r>
              <a:rPr lang="en-US" dirty="0"/>
              <a:t>Credentials: C++, C#, Python*, Smalltalk</a:t>
            </a:r>
          </a:p>
          <a:p>
            <a:r>
              <a:rPr lang="en-US" dirty="0"/>
              <a:t>Format: 9 puzzles &amp; Rust solutions</a:t>
            </a:r>
          </a:p>
          <a:p>
            <a:pPr lvl="1"/>
            <a:r>
              <a:rPr lang="en-US" dirty="0"/>
              <a:t>inspired by real code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store sets of integers,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i16</a:t>
            </a:r>
            <a:r>
              <a:rPr sz="1600">
                <a:solidFill>
                  <a:srgbClr val="E6E6E6"/>
                </a:solidFill>
                <a:latin typeface="Aptos"/>
              </a:rPr>
              <a:t>, etc.. Every integer type must have functions like </a:t>
            </a:r>
            <a:r>
              <a:rPr sz="1600">
                <a:solidFill>
                  <a:srgbClr val="FFFFFF"/>
                </a:solidFill>
                <a:latin typeface="Consolas"/>
              </a:rPr>
              <a:t>min_value</a:t>
            </a:r>
            <a:r>
              <a:rPr sz="1600">
                <a:solidFill>
                  <a:srgbClr val="E6E6E6"/>
                </a:solidFill>
                <a:latin typeface="Aptos"/>
              </a:rPr>
              <a:t>. We also want all integers to inherit certain other functions such as </a:t>
            </a:r>
            <a:r>
              <a:rPr sz="1600">
                <a:solidFill>
                  <a:srgbClr val="FFFF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E6E6E6"/>
                </a:solidFill>
                <a:latin typeface="Aptos"/>
              </a:rPr>
              <a:t>.</a:t>
            </a:r>
          </a:p>
        </p:txBody>
      </p:sp>
      <p:pic>
        <p:nvPicPr>
          <p:cNvPr id="6" name="Picture 5" descr="1_puzzle_diagram.png"/>
          <p:cNvPicPr>
            <a:picLocks noChangeAspect="1"/>
          </p:cNvPicPr>
          <p:nvPr/>
        </p:nvPicPr>
        <p:blipFill>
          <a:blip r:embed="R4cde59044749471e"/>
          <a:stretch>
            <a:fillRect/>
          </a:stretch>
        </p:blipFill>
        <p:spPr>
          <a:xfrm>
            <a:off x="2783576" y="1691640"/>
            <a:ext cx="50246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ops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RangeInclusive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Mini `range-set-blaze` Integer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Trait Default Methods.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Copy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Ord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Default behavior inherited by implementors.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Any impl can override this method.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3E88D"/>
                </a:solidFill>
                <a:latin typeface="Consolas"/>
              </a:rPr>
              <a:t>/// Returns an exhausted (empty) range`.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RangeInclusive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2AAFF"/>
                </a:solidFill>
                <a:latin typeface="Consolas"/>
              </a:rPr>
              <a:t>debug_assert!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Precondition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..=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r1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r1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r2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A servo is an electric motor that can move to a specified angle.</a:t>
            </a:r>
          </a:p>
        </p:txBody>
      </p:sp>
      <p:pic>
        <p:nvPicPr>
          <p:cNvPr id="6" name="Picture 5" descr="2_puzzle_diagram.png"/>
          <p:cNvPicPr>
            <a:picLocks noChangeAspect="1"/>
          </p:cNvPicPr>
          <p:nvPr/>
        </p:nvPicPr>
        <p:blipFill>
          <a:blip r:embed="R59c51dedbe8a455f"/>
          <a:stretch>
            <a:fillRect/>
          </a:stretch>
        </p:blipFill>
        <p:spPr>
          <a:xfrm>
            <a:off x="2960588" y="1691640"/>
            <a:ext cx="467062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thread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time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Duration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`Servo` is an abstract contract (a trait), not a concrete driver.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`ServoPlayer` is also abstract. It extends `Servo` (supertrait), so any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`ServoPlayer` can do everything in `Servo` plus animation.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Supertrait Default Methods.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(This example shows supertrait-based interface extension.)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(degrees, milliseconds to hold at that angle)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animate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steps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Concrete servo driver (similar naming to the real example): `ServoEsp`.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ServoEsp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ServoEsp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2AAFF"/>
                </a:solidFill>
                <a:latin typeface="Consolas"/>
              </a:rPr>
              <a:t>println!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[ServoEsp] set angle -&gt; {degrees}°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Concrete servo player driver that can animate.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ServoPlayerEsp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ServoPlayerEsp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2AAFF"/>
                </a:solidFill>
                <a:latin typeface="Consolas"/>
              </a:rPr>
              <a:t>println!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[ServoPlayerEsp] set angle -&gt; {degrees}°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ServoPlayerEsp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animate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steps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ms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steps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degrees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2AAFF"/>
                </a:solidFill>
                <a:latin typeface="Consolas"/>
              </a:rPr>
              <a:t>println!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[ServoPlayerEsp] hold for {ms}ms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thread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sleep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Duration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from_millis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ms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Generic program that only needs a `Servo`.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center_servo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set_degrees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90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Generic program that needs a `ServoPlayer`.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run_wave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player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player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animate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120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45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90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135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180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120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135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90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45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100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120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servo_player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ServoPlayerEsp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center_servo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servo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`ServoPlayer` can do everything `Servo` can!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center_servo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servo_player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and more.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run_wave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servo_player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to add a new method </a:t>
            </a:r>
            <a:r>
              <a:rPr sz="1600">
                <a:solidFill>
                  <a:srgbClr val="FFFFFF"/>
                </a:solidFill>
                <a:latin typeface="Consolas"/>
              </a:rPr>
              <a:t>is_odd()</a:t>
            </a:r>
            <a:r>
              <a:rPr sz="1600">
                <a:solidFill>
                  <a:srgbClr val="E6E6E6"/>
                </a:solidFill>
                <a:latin typeface="Aptos"/>
              </a:rPr>
              <a:t> to an existing concrete type </a:t>
            </a:r>
            <a:r>
              <a:rPr sz="1600">
                <a:solidFill>
                  <a:srgbClr val="FFFFFF"/>
                </a:solidFill>
                <a:latin typeface="Consolas"/>
              </a:rPr>
              <a:t>usize</a:t>
            </a:r>
            <a:r>
              <a:rPr sz="1600">
                <a:solidFill>
                  <a:srgbClr val="E6E6E6"/>
                </a:solidFill>
                <a:latin typeface="Aptos"/>
              </a:rPr>
              <a:t>, even though we do not own that type.</a:t>
            </a:r>
          </a:p>
        </p:txBody>
      </p:sp>
      <p:pic>
        <p:nvPicPr>
          <p:cNvPr id="6" name="Picture 5" descr="3_puzzle_diagram.png"/>
          <p:cNvPicPr>
            <a:picLocks noChangeAspect="1"/>
          </p:cNvPicPr>
          <p:nvPr/>
        </p:nvPicPr>
        <p:blipFill>
          <a:blip r:embed="R8bdd9497e9b447c6"/>
          <a:stretch>
            <a:fillRect/>
          </a:stretch>
        </p:blipFill>
        <p:spPr>
          <a:xfrm>
            <a:off x="3413291" y="1691640"/>
            <a:ext cx="376521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UsizeExtensions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UsizeExtensions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extension traits.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count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count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F78C6C"/>
                </a:solidFill>
                <a:latin typeface="Consolas"/>
              </a:rPr>
              <a:t>12.</a:t>
            </a:r>
            <a:r>
              <a:rPr sz="1600">
                <a:solidFill>
                  <a:srgbClr val="EEFFFF"/>
                </a:solidFill>
                <a:latin typeface="Consolas"/>
              </a:rPr>
              <a:t>is_odd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a small </a:t>
            </a:r>
            <a:r>
              <a:rPr sz="1600">
                <a:solidFill>
                  <a:srgbClr val="FFFFFF"/>
                </a:solidFill>
                <a:latin typeface="Consolas"/>
              </a:rPr>
              <a:t>LedLevel</a:t>
            </a:r>
            <a:r>
              <a:rPr sz="1600">
                <a:solidFill>
                  <a:srgbClr val="E6E6E6"/>
                </a:solidFill>
                <a:latin typeface="Aptos"/>
              </a:rPr>
              <a:t> enum type with two values (</a:t>
            </a:r>
            <a:r>
              <a:rPr sz="1600">
                <a:solidFill>
                  <a:srgbClr val="FFFFFF"/>
                </a:solidFill>
                <a:latin typeface="Consolas"/>
              </a:rPr>
              <a:t>On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Off</a:t>
            </a:r>
            <a:r>
              <a:rPr sz="1600">
                <a:solidFill>
                  <a:srgbClr val="E6E6E6"/>
                </a:solidFill>
                <a:latin typeface="Aptos"/>
              </a:rPr>
              <a:t>) that automatically participates in common behaviors (default value, debugging output, equality/order comparisons, hashing, copy/clone).</a:t>
            </a:r>
          </a:p>
        </p:txBody>
      </p:sp>
      <p:pic>
        <p:nvPicPr>
          <p:cNvPr id="6" name="Picture 5" descr="4_puzzle_diagram.png"/>
          <p:cNvPicPr>
            <a:picLocks noChangeAspect="1"/>
          </p:cNvPicPr>
          <p:nvPr/>
        </p:nvPicPr>
        <p:blipFill>
          <a:blip r:embed="R8f1145e4775a4b7b"/>
          <a:stretch>
            <a:fillRect/>
          </a:stretch>
        </p:blipFill>
        <p:spPr>
          <a:xfrm>
            <a:off x="274319" y="1691640"/>
            <a:ext cx="10043160" cy="41376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derive-generated implementation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derive(Clone, Copy, Debug, Eq, Hash, Ord, PartialEq, PartialOrd, Default)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enum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LedLevel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default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default_level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default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default_level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LedLevel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assert_ne!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`Copy` + `Clone` come from derive too.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cloned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cloned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off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an </a:t>
            </a:r>
            <a:r>
              <a:rPr sz="1600">
                <a:solidFill>
                  <a:srgbClr val="FFFFFF"/>
                </a:solidFill>
                <a:latin typeface="Consolas"/>
              </a:rPr>
              <a:t>HtmlBuffer</a:t>
            </a:r>
            <a:r>
              <a:rPr sz="1600">
                <a:solidFill>
                  <a:srgbClr val="E6E6E6"/>
                </a:solidFill>
                <a:latin typeface="Aptos"/>
              </a:rPr>
              <a:t> to feel like a string for everyday method calls, while still being its own distinct type. Note that </a:t>
            </a:r>
            <a:r>
              <a:rPr sz="1600">
                <a:solidFill>
                  <a:srgbClr val="FFFFFF"/>
                </a:solidFill>
                <a:latin typeface="Consolas"/>
              </a:rPr>
              <a:t>String</a:t>
            </a:r>
            <a:r>
              <a:rPr sz="1600">
                <a:solidFill>
                  <a:srgbClr val="E6E6E6"/>
                </a:solidFill>
                <a:latin typeface="Aptos"/>
              </a:rPr>
              <a:t> is a concrete type with storage, not just an interface/trait/abstract base class.</a:t>
            </a:r>
          </a:p>
        </p:txBody>
      </p:sp>
      <p:pic>
        <p:nvPicPr>
          <p:cNvPr id="6" name="Picture 5" descr="5_puzzle_diagram.png"/>
          <p:cNvPicPr>
            <a:picLocks noChangeAspect="1"/>
          </p:cNvPicPr>
          <p:nvPr/>
        </p:nvPicPr>
        <p:blipFill>
          <a:blip r:embed="Rd66f7ce7b3044fea"/>
          <a:stretch>
            <a:fillRect/>
          </a:stretch>
        </p:blipFill>
        <p:spPr>
          <a:xfrm>
            <a:off x="4130213" y="1691640"/>
            <a:ext cx="233137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ops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Deref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DerefMut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HtmlBuffer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Deref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type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Target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deref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Target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DerefMut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deref_mut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Target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deref lookup.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HtmlBuffer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`push_str` and `len` are String methods found via deref lookup.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push_str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&lt;h1&gt;Hello&lt;/h1&gt;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push_str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&lt;p&gt;Rust&lt;/p&gt;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Borrow the thing `page` points to and compare.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page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&lt;h1&gt;Hello&lt;/h1&gt;&lt;p&gt;Rust&lt;/p&gt;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Good for `Box`, `Rc`, etc., but not really good here.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Also see AsRef, From, and Borrow traits.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to union any number of sets (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). In OO terms, any collection that is an iterable of </a:t>
            </a:r>
            <a:r>
              <a:rPr sz="1600">
                <a:solidFill>
                  <a:srgbClr val="FFFFFF"/>
                </a:solidFill>
                <a:latin typeface="Consolas"/>
              </a:rPr>
              <a:t>RangeSetBlaze&lt;T&gt;</a:t>
            </a:r>
            <a:r>
              <a:rPr sz="1600">
                <a:solidFill>
                  <a:srgbClr val="E6E6E6"/>
                </a:solidFill>
                <a:latin typeface="Aptos"/>
              </a:rPr>
              <a:t> references should inherit this operation.</a:t>
            </a:r>
          </a:p>
        </p:txBody>
      </p:sp>
      <p:pic>
        <p:nvPicPr>
          <p:cNvPr id="6" name="Picture 5" descr="6_puzzle_diagram.png"/>
          <p:cNvPicPr>
            <a:picLocks noChangeAspect="1"/>
          </p:cNvPicPr>
          <p:nvPr/>
        </p:nvPicPr>
        <p:blipFill>
          <a:blip r:embed="R4b89413f01ba4bf5"/>
          <a:stretch>
            <a:fillRect/>
          </a:stretch>
        </p:blipFill>
        <p:spPr>
          <a:xfrm>
            <a:off x="1957134" y="1691640"/>
            <a:ext cx="667753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collections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BTreeSet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For this example, use u64 as our stand-in integer type.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type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Mock up RangeSetBlaze as a BTreeSet wrapper for demo purposes.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PartialEq, Eq)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RangeSetBlaze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BTreeSet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BTreeSet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Construct from a slice of Integer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iter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collect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Return a new set that is the union of two borrowed sets.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other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other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copied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collect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values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 RangeSetCollection is any type that can be turned into an iterator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over borrowed RangeSetBlaze values.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"blanket implementation".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One impl applies to every type that matches the bound.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IntoIterator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Item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Sized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result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Blanket implementation: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Any type that can be turned into an iterator over &amp;RangeSetBlaze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automatically implements RangeSetCollection.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RangeSetCollection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IntoIterator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Item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'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9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RangeSetBlaze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from_slice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3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5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7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9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vector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2AAFF"/>
                </a:solidFill>
                <a:latin typeface="Consolas"/>
              </a:rPr>
              <a:t>vec!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 array of sets can be unioned together.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b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expected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 filtered option can be unioned.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Some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filter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|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89DDFF"/>
                </a:solidFill>
                <a:latin typeface="Consolas"/>
              </a:rPr>
              <a:t>|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EEFFFF"/>
                </a:solidFill>
                <a:latin typeface="Consolas"/>
              </a:rPr>
              <a:t>set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is_empty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C792EA"/>
                </a:solidFill>
                <a:latin typeface="Consolas"/>
              </a:rPr>
              <a:t>union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Treat 15 integer-like types uniformly: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, ..., </a:t>
            </a:r>
            <a:r>
              <a:rPr sz="1600">
                <a:solidFill>
                  <a:srgbClr val="FFFFFF"/>
                </a:solidFill>
                <a:latin typeface="Consolas"/>
              </a:rPr>
              <a:t>usize</a:t>
            </a:r>
            <a:r>
              <a:rPr sz="1600">
                <a:solidFill>
                  <a:srgbClr val="E6E6E6"/>
                </a:solidFill>
                <a:latin typeface="Aptos"/>
              </a:rPr>
              <a:t>, ...</a:t>
            </a:r>
            <a:r>
              <a:rPr sz="1600">
                <a:solidFill>
                  <a:srgbClr val="FFFFFF"/>
                </a:solidFill>
                <a:latin typeface="Consolas"/>
              </a:rPr>
              <a:t>i128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char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IPv4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IPv6</a:t>
            </a:r>
            <a:r>
              <a:rPr sz="1600">
                <a:solidFill>
                  <a:srgbClr val="E6E6E6"/>
                </a:solidFill>
                <a:latin typeface="Aptos"/>
              </a:rPr>
              <a:t> For example, with a </a:t>
            </a:r>
            <a:r>
              <a:rPr sz="1600">
                <a:solidFill>
                  <a:srgbClr val="FFFFFF"/>
                </a:solidFill>
                <a:latin typeface="Consolas"/>
              </a:rPr>
              <a:t>min</a:t>
            </a:r>
            <a:r>
              <a:rPr sz="1600">
                <a:solidFill>
                  <a:srgbClr val="E6E6E6"/>
                </a:solidFill>
                <a:latin typeface="Aptos"/>
              </a:rPr>
              <a:t>, </a:t>
            </a:r>
            <a:r>
              <a:rPr sz="1600">
                <a:solidFill>
                  <a:srgbClr val="FFFFFF"/>
                </a:solidFill>
                <a:latin typeface="Consolas"/>
              </a:rPr>
              <a:t>max</a:t>
            </a:r>
            <a:r>
              <a:rPr sz="1600">
                <a:solidFill>
                  <a:srgbClr val="E6E6E6"/>
                </a:solidFill>
                <a:latin typeface="Aptos"/>
              </a:rPr>
              <a:t>, and ability to add one (unchecked).</a:t>
            </a:r>
          </a:p>
        </p:txBody>
      </p:sp>
      <p:pic>
        <p:nvPicPr>
          <p:cNvPr id="6" name="Picture 5" descr="7_puzzle_diagram.png"/>
          <p:cNvPicPr>
            <a:picLocks noChangeAspect="1"/>
          </p:cNvPicPr>
          <p:nvPr/>
        </p:nvPicPr>
        <p:blipFill>
          <a:blip r:embed="Raf67323c10344015"/>
          <a:stretch>
            <a:fillRect/>
          </a:stretch>
        </p:blipFill>
        <p:spPr>
          <a:xfrm>
            <a:off x="1578175" y="1691640"/>
            <a:ext cx="743544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trait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Copy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Ord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FFCB6B"/>
                </a:solidFill>
                <a:latin typeface="Consolas"/>
              </a:rPr>
              <a:t>ty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wrapping_add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$ip_type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6A9955"/>
                </a:solidFill>
                <a:latin typeface="Consolas"/>
              </a:rPr>
              <a:t>$representation_type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2AAFF"/>
                </a:solidFill>
                <a:latin typeface="Consolas"/>
              </a:rPr>
              <a:t>macro_rules!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impl_integer_ops_char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if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0xD800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0xE000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from_u32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num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unwrap_or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u16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i32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i64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u64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i128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isize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impl_integer_ops_num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impl_integer_ops_ip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Ipv6Addr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u128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Integer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impl_integer_ops_char</a:t>
            </a:r>
            <a:r>
              <a:rPr sz="1600">
                <a:solidFill>
                  <a:srgbClr val="89DDFF"/>
                </a:solidFill>
                <a:latin typeface="Consolas"/>
              </a:rPr>
              <a:t>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Can't use num_traits::PrimInt as a 'subclass'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because Rust worries that 'char' etc. might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be added to it later (coherence).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macro-generated implementation.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x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254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x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255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'a'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add_one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'b'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char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min_value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max_value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Ipv4Addr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792EA"/>
                </a:solidFill>
                <a:latin typeface="Consolas"/>
              </a:rPr>
              <a:t>u32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MAX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have an </a:t>
            </a:r>
            <a:r>
              <a:rPr sz="1600">
                <a:solidFill>
                  <a:srgbClr val="FFFFFF"/>
                </a:solidFill>
                <a:latin typeface="Consolas"/>
              </a:rPr>
              <a:t>OutputArray&lt;N&gt;</a:t>
            </a:r>
            <a:r>
              <a:rPr sz="1600">
                <a:solidFill>
                  <a:srgbClr val="E6E6E6"/>
                </a:solidFill>
                <a:latin typeface="Aptos"/>
              </a:rPr>
              <a:t> superclass with two methods. For </a:t>
            </a:r>
            <a:r>
              <a:rPr sz="1600">
                <a:solidFill>
                  <a:srgbClr val="FFFFFF"/>
                </a:solidFill>
                <a:latin typeface="Consolas"/>
              </a:rPr>
              <a:t>N = 8</a:t>
            </a:r>
            <a:r>
              <a:rPr sz="1600">
                <a:solidFill>
                  <a:srgbClr val="E6E6E6"/>
                </a:solidFill>
                <a:latin typeface="Aptos"/>
              </a:rPr>
              <a:t>, however, we want one extra method because it maps cleanly to a </a:t>
            </a:r>
            <a:r>
              <a:rPr sz="1600">
                <a:solidFill>
                  <a:srgbClr val="FFFFFF"/>
                </a:solidFill>
                <a:latin typeface="Consolas"/>
              </a:rPr>
              <a:t>u8</a:t>
            </a:r>
            <a:r>
              <a:rPr sz="1600">
                <a:solidFill>
                  <a:srgbClr val="E6E6E6"/>
                </a:solidFill>
                <a:latin typeface="Aptos"/>
              </a:rPr>
              <a:t> bitmask.</a:t>
            </a:r>
          </a:p>
        </p:txBody>
      </p:sp>
      <p:pic>
        <p:nvPicPr>
          <p:cNvPr id="6" name="Picture 5" descr="8_puzzle_diagram.png"/>
          <p:cNvPicPr>
            <a:picLocks noChangeAspect="1"/>
          </p:cNvPicPr>
          <p:nvPr/>
        </p:nvPicPr>
        <p:blipFill>
          <a:blip r:embed="R6b9efc9dd198439d"/>
          <a:stretch>
            <a:fillRect/>
          </a:stretch>
        </p:blipFill>
        <p:spPr>
          <a:xfrm>
            <a:off x="948628" y="1691640"/>
            <a:ext cx="869454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Copy)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const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const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N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set_level_at_index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index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usize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bool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EEFFFF"/>
                </a:solidFill>
                <a:latin typeface="Consolas"/>
              </a:rPr>
              <a:t>index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level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Hardcoded 8, matching the bit width expected by a u8 mask.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set_from_bits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for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slot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in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89DDFF"/>
                </a:solidFill>
                <a:latin typeface="Consolas"/>
              </a:rPr>
              <a:t>*</a:t>
            </a:r>
            <a:r>
              <a:rPr sz="1600">
                <a:solidFill>
                  <a:srgbClr val="EEFFFF"/>
                </a:solidFill>
                <a:latin typeface="Consolas"/>
              </a:rPr>
              <a:t>slot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    </a:t>
            </a:r>
            <a:r>
              <a:rPr sz="1600">
                <a:solidFill>
                  <a:srgbClr val="EEFFFF"/>
                </a:solidFill>
                <a:latin typeface="Consolas"/>
              </a:rPr>
              <a:t>bits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78C6C"/>
                </a:solidFill>
                <a:latin typeface="Consolas"/>
              </a:rPr>
              <a:t>1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constraint-gated methods.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- Methods that only exist when certain constraints are met.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4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set_level_at_index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2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OutputArray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F78C6C"/>
                </a:solidFill>
                <a:latin typeface="Consolas"/>
              </a:rPr>
              <a:t>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set_from_bits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F78C6C"/>
                </a:solidFill>
                <a:latin typeface="Consolas"/>
              </a:rPr>
              <a:t>0b1011_0001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any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eight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levels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[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false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true</a:t>
            </a:r>
            <a:r>
              <a:rPr sz="1600">
                <a:solidFill>
                  <a:srgbClr val="BAC2DE"/>
                </a:solidFill>
                <a:latin typeface="Consolas"/>
              </a:rPr>
              <a:t>]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0"/>
            <a:ext cx="160020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0664952" y="274320"/>
            <a:ext cx="1453896" cy="6309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>
                <a:solidFill>
                  <a:srgbClr val="141414"/>
                </a:solidFill>
                <a:latin typeface="Aptos"/>
              </a:defRPr>
            </a:pPr>
            <a:r>
              <a:t>Puzzle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49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We want two levels of </a:t>
            </a:r>
            <a:r>
              <a:rPr sz="1600">
                <a:solidFill>
                  <a:srgbClr val="FFFFFF"/>
                </a:solidFill>
                <a:latin typeface="Consolas"/>
              </a:rPr>
              <a:t>FlashBlock</a:t>
            </a:r>
            <a:r>
              <a:rPr sz="1600">
                <a:solidFill>
                  <a:srgbClr val="E6E6E6"/>
                </a:solidFill>
                <a:latin typeface="Aptos"/>
              </a:rPr>
              <a:t>: a base level with </a:t>
            </a:r>
            <a:r>
              <a:rPr sz="1600">
                <a:solidFill>
                  <a:srgbClr val="FFFFFF"/>
                </a:solidFill>
                <a:latin typeface="Consolas"/>
              </a:rPr>
              <a:t>new</a:t>
            </a:r>
            <a:r>
              <a:rPr sz="1600">
                <a:solidFill>
                  <a:srgbClr val="E6E6E6"/>
                </a:solidFill>
                <a:latin typeface="Aptos"/>
              </a:rPr>
              <a:t> and </a:t>
            </a:r>
            <a:r>
              <a:rPr sz="1600">
                <a:solidFill>
                  <a:srgbClr val="FFFFFF"/>
                </a:solidFill>
                <a:latin typeface="Consolas"/>
              </a:rPr>
              <a:t>clear</a:t>
            </a:r>
            <a:r>
              <a:rPr sz="1600">
                <a:solidFill>
                  <a:srgbClr val="E6E6E6"/>
                </a:solidFill>
                <a:latin typeface="Aptos"/>
              </a:rPr>
              <a:t>, and a constrained level that adds </a:t>
            </a:r>
            <a:r>
              <a:rPr sz="1600">
                <a:solidFill>
                  <a:srgbClr val="FFFFFF"/>
                </a:solidFill>
                <a:latin typeface="Consolas"/>
              </a:rPr>
              <a:t>save</a:t>
            </a:r>
            <a:r>
              <a:rPr sz="1600">
                <a:solidFill>
                  <a:srgbClr val="E6E6E6"/>
                </a:solidFill>
                <a:latin typeface="Aptos"/>
              </a:rPr>
              <a:t> and </a:t>
            </a:r>
            <a:r>
              <a:rPr sz="1600">
                <a:solidFill>
                  <a:srgbClr val="FFFFFF"/>
                </a:solidFill>
                <a:latin typeface="Consolas"/>
              </a:rPr>
              <a:t>load</a:t>
            </a:r>
            <a:r>
              <a:rPr sz="1600">
                <a:solidFill>
                  <a:srgbClr val="E6E6E6"/>
                </a:solidFill>
                <a:latin typeface="Aptos"/>
              </a:rPr>
              <a:t> only when </a:t>
            </a:r>
            <a:r>
              <a:rPr sz="1600">
                <a:solidFill>
                  <a:srgbClr val="FFFFFF"/>
                </a:solidFill>
                <a:latin typeface="Consolas"/>
              </a:rPr>
              <a:t>T</a:t>
            </a:r>
            <a:r>
              <a:rPr sz="1600">
                <a:solidFill>
                  <a:srgbClr val="E6E6E6"/>
                </a:solidFill>
                <a:latin typeface="Aptos"/>
              </a:rPr>
              <a:t> satisfies both serialization and deserialization capabilities.</a:t>
            </a:r>
          </a:p>
        </p:txBody>
      </p:sp>
      <p:pic>
        <p:nvPicPr>
          <p:cNvPr id="6" name="Picture 5" descr="9_puzzle_diagram.png"/>
          <p:cNvPicPr>
            <a:picLocks noChangeAspect="1"/>
          </p:cNvPicPr>
          <p:nvPr/>
        </p:nvPicPr>
        <p:blipFill>
          <a:blip r:embed="Ra4ef8d5feb4f4235"/>
          <a:stretch>
            <a:fillRect/>
          </a:stretch>
        </p:blipFill>
        <p:spPr>
          <a:xfrm>
            <a:off x="1681103" y="1691640"/>
            <a:ext cx="722959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std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collections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HashMap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serde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use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serde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Serialize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derive(Debug, Clone, Serialize, Deserialize, PartialEq, Eq)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WifiCredentials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Key point: method-level gating.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- The type exists for all use-cases.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3E88D"/>
                </a:solidFill>
                <a:latin typeface="Consolas"/>
              </a:rPr>
              <a:t>/// - Only `save/load&lt;T&gt;` require extra capabilities on `T`.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#[</a:t>
            </a:r>
            <a:r>
              <a:rPr sz="1600">
                <a:solidFill>
                  <a:srgbClr val="6A9955"/>
                </a:solidFill>
                <a:latin typeface="Consolas"/>
              </a:rPr>
              <a:t>derive(Default)</a:t>
            </a:r>
            <a:r>
              <a:rPr sz="1600">
                <a:solidFill>
                  <a:srgbClr val="6A9955"/>
                </a:solidFill>
                <a:latin typeface="Consolas"/>
              </a:rPr>
              <a:t>]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struct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FlashBlock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HashMap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89DDFF"/>
                </a:solidFill>
                <a:latin typeface="Consolas"/>
              </a:rPr>
              <a:t>String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Vec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C792EA"/>
                </a:solidFill>
                <a:latin typeface="Consolas"/>
              </a:rPr>
              <a:t>u8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impl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FlashBlock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Self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default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save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str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value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FFCB6B"/>
                </a:solidFill>
                <a:latin typeface="Consolas"/>
              </a:rPr>
              <a:t>T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Result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Error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Serialize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to_stdvec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value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insert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89DD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load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&amp;</a:t>
            </a:r>
            <a:r>
              <a:rPr sz="1600">
                <a:solidFill>
                  <a:srgbClr val="C792EA"/>
                </a:solidFill>
                <a:latin typeface="Consolas"/>
              </a:rPr>
              <a:t>str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Option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where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T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FFCB6B"/>
                </a:solidFill>
                <a:latin typeface="Consolas"/>
              </a:rPr>
              <a:t>Serialize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+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DeserializeOwned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self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store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get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key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from_bytes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bytes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TECHNIQUE NAME: method-level gating.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792EA"/>
                </a:solidFill>
                <a:latin typeface="Consolas"/>
              </a:rPr>
              <a:t>fn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2AAFF"/>
                </a:solidFill>
                <a:latin typeface="Consolas"/>
              </a:rPr>
              <a:t>main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-&gt;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Result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postcard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Error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792EA"/>
                </a:solidFill>
                <a:latin typeface="Consolas"/>
              </a:rPr>
              <a:t>mut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FlashBlock</a:t>
            </a:r>
            <a:r>
              <a:rPr sz="1600">
                <a:solidFill>
                  <a:srgbClr val="BAC2DE"/>
                </a:solidFill>
                <a:latin typeface="Consolas"/>
              </a:rPr>
              <a:t>::</a:t>
            </a:r>
            <a:r>
              <a:rPr sz="1600">
                <a:solidFill>
                  <a:srgbClr val="EEFFFF"/>
                </a:solidFill>
                <a:latin typeface="Consolas"/>
              </a:rPr>
              <a:t>new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BAC2DE"/>
                </a:solidFill>
                <a:latin typeface="Consolas"/>
              </a:rPr>
              <a:t>{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1862816" cy="66385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HomeWiFi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    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secret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to_string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Works: WifiCredentials satisfies Serialize + Deserialize.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save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credentials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89DDFF"/>
                </a:solidFill>
                <a:latin typeface="Consolas"/>
              </a:rPr>
              <a:t>?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Option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load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C792EA"/>
                </a:solidFill>
                <a:latin typeface="Consolas"/>
              </a:rPr>
              <a:t>let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89DDFF"/>
                </a:solidFill>
                <a:latin typeface="Consolas"/>
              </a:rPr>
              <a:t>=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unwrap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ssid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HomeWiFi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assert_eq!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89DDFF"/>
                </a:solidFill>
                <a:latin typeface="Consolas"/>
              </a:rPr>
              <a:t>&amp;</a:t>
            </a:r>
            <a:r>
              <a:rPr sz="1600">
                <a:solidFill>
                  <a:srgbClr val="EEFFFF"/>
                </a:solidFill>
                <a:latin typeface="Consolas"/>
              </a:rPr>
              <a:t>loaded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password</a:t>
            </a:r>
            <a:r>
              <a:rPr sz="1600">
                <a:solidFill>
                  <a:srgbClr val="BAC2DE"/>
                </a:solidFill>
                <a:latin typeface="Consolas"/>
              </a:rPr>
              <a:t>,</a:t>
            </a:r>
            <a:r>
              <a:rPr sz="1600">
                <a:solidFill>
                  <a:srgbClr val="EEFFFF"/>
                </a:solidFill>
                <a:latin typeface="Consolas"/>
              </a:rPr>
              <a:t> 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secret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clear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2AAFF"/>
                </a:solidFill>
                <a:latin typeface="Consolas"/>
              </a:rPr>
              <a:t>assert!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EEFFFF"/>
                </a:solidFill>
                <a:latin typeface="Consolas"/>
              </a:rPr>
              <a:t>flash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load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BAC2DE"/>
                </a:solidFill>
                <a:latin typeface="Consolas"/>
              </a:rPr>
              <a:t>:</a:t>
            </a:r>
            <a:r>
              <a:rPr sz="1600">
                <a:solidFill>
                  <a:srgbClr val="89DDFF"/>
                </a:solidFill>
                <a:latin typeface="Consolas"/>
              </a:rPr>
              <a:t>&lt;</a:t>
            </a:r>
            <a:r>
              <a:rPr sz="1600">
                <a:solidFill>
                  <a:srgbClr val="EEFFFF"/>
                </a:solidFill>
                <a:latin typeface="Consolas"/>
              </a:rPr>
              <a:t>WifiCredentials</a:t>
            </a:r>
            <a:r>
              <a:rPr sz="1600">
                <a:solidFill>
                  <a:srgbClr val="89DDFF"/>
                </a:solidFill>
                <a:latin typeface="Consolas"/>
              </a:rPr>
              <a:t>&gt;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C3E88D"/>
                </a:solidFill>
                <a:latin typeface="Consolas"/>
              </a:rPr>
              <a:t>wifi</a:t>
            </a:r>
            <a:r>
              <a:rPr sz="1600">
                <a:solidFill>
                  <a:srgbClr val="C3E88D"/>
                </a:solidFill>
                <a:latin typeface="Consolas"/>
              </a:rPr>
              <a:t>"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.</a:t>
            </a:r>
            <a:r>
              <a:rPr sz="1600">
                <a:solidFill>
                  <a:srgbClr val="EEFFFF"/>
                </a:solidFill>
                <a:latin typeface="Consolas"/>
              </a:rPr>
              <a:t>is_none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EFFFF"/>
                </a:solidFill>
                <a:latin typeface="Consolas"/>
              </a:rPr>
              <a:t>    </a:t>
            </a:r>
            <a:r>
              <a:rPr sz="1600">
                <a:solidFill>
                  <a:srgbClr val="89DDFF"/>
                </a:solidFill>
                <a:latin typeface="Consolas"/>
              </a:rPr>
              <a:t>Ok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(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  <a:r>
              <a:rPr sz="1600">
                <a:solidFill>
                  <a:srgbClr val="BAC2DE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AC2D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36DE7-7E3C-0C45-0D57-DDCB2941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945333"/>
              </p:ext>
            </p:extLst>
          </p:nvPr>
        </p:nvGraphicFramePr>
        <p:xfrm>
          <a:off x="482599" y="1511891"/>
          <a:ext cx="8537575" cy="41597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794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Trait Default Methods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“Interface” defines default implementation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 dirty="0" err="1">
                          <a:solidFill>
                            <a:schemeClr val="tx1"/>
                          </a:solidFill>
                        </a:rPr>
                        <a:t>Supertrait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 Default Methods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#1 but with more levels of traits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Extension Traits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Add methods to one or a few (foreign) types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Derive-Generated Implementations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#[derive(Clone, Debug, etc.)]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Deref Method Lookup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Add methods to concrete types like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String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Blanket Implementations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Add methods to all (foreign) types that satisfy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b="1" dirty="0"/>
                        <a:t>Macro-Generated Implementations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When #2 doesn’t work because “coherence”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Constraint-Gated Methods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e.g. when const N=8, add a method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Method-Level Constraints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e.g. method defined when T: </a:t>
                      </a:r>
                      <a:r>
                        <a:rPr lang="en-US" sz="1800" cap="none" spc="0" dirty="0" err="1">
                          <a:solidFill>
                            <a:schemeClr val="tx1"/>
                          </a:solidFill>
                        </a:rPr>
                        <a:t>Serialize+etc</a:t>
                      </a: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413860"/>
      </p:ext>
    </p:extLst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Nine Ways to Inherit in Rust a Language without Inheritance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K</dc:creator>
  <cp:lastModifiedBy>Carl K</cp:lastModifiedBy>
  <cp:revision>1</cp:revision>
  <dcterms:created xsi:type="dcterms:W3CDTF">2026-05-19T15:36:32Z</dcterms:created>
  <dcterms:modified xsi:type="dcterms:W3CDTF">2026-05-19T15:38:48Z</dcterms:modified>
</cp:coreProperties>
</file>