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2c2b97d1d28451a" /><Relationship Type="http://schemas.openxmlformats.org/package/2006/relationships/metadata/core-properties" Target="/docProps/core.xml" Id="Rfb1ff1d2d6a34b29" /><Relationship Type="http://schemas.openxmlformats.org/officeDocument/2006/relationships/extended-properties" Target="/docProps/app.xml" Id="R482982de1a934523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cc1d0b569be24693"/>
  </p:sldMasterIdLst>
  <p:sldIdLst>
    <p:sldId id="256" r:id="Rfdf572aa01c44aee"/>
    <p:sldId id="257" r:id="R71a77c95a7d0442f"/>
    <p:sldId id="258" r:id="R0601c92431494b4c"/>
    <p:sldId id="259" r:id="R76d3a1d99146475a"/>
    <p:sldId id="260" r:id="R0323af30ccab45c4"/>
    <p:sldId id="261" r:id="Ra2f9080e8a50440c"/>
    <p:sldId id="262" r:id="Rd59a390c76fd4a90"/>
    <p:sldId id="263" r:id="R5dcdf4e8b9eb4de9"/>
    <p:sldId id="264" r:id="R2a5d9eb2c38c4bbd"/>
    <p:sldId id="265" r:id="R65193b5f7b064a04"/>
    <p:sldId id="266" r:id="Ra87609567fc144e7"/>
    <p:sldId id="267" r:id="R9dedbc48fd744ff7"/>
    <p:sldId id="268" r:id="R8858fb0613c0461c"/>
    <p:sldId id="269" r:id="R80e5b33d1a204848"/>
    <p:sldId id="270" r:id="Ra5fa9a5ca0644e53"/>
    <p:sldId id="271" r:id="R0e97cbb97f7649e0"/>
    <p:sldId id="272" r:id="R4e3d8aa74aed4657"/>
    <p:sldId id="273" r:id="Rd6f1d38672864f08"/>
    <p:sldId id="274" r:id="Rdcf3f6b49f6944c7"/>
    <p:sldId id="275" r:id="Red4554e529554263"/>
    <p:sldId id="276" r:id="Rd4c23eeba6a74e7f"/>
    <p:sldId id="277" r:id="Raa142dd928914693"/>
    <p:sldId id="278" r:id="Rb47d5d77c8964811"/>
    <p:sldId id="279" r:id="R49fe414fee6546ae"/>
    <p:sldId id="280" r:id="R9f990610ed354e23"/>
    <p:sldId id="281" r:id="R216ff3f9b82b4fc8"/>
    <p:sldId id="282" r:id="R86267946afe94d65"/>
    <p:sldId id="283" r:id="R1e520892d3fa4c42"/>
    <p:sldId id="284" r:id="R16f14c16221b427c"/>
    <p:sldId id="285" r:id="Ra963a37a039f49af"/>
    <p:sldId id="286" r:id="R0c11b4120496441c"/>
    <p:sldId id="287" r:id="Rcfaf6d6a13564424"/>
    <p:sldId id="288" r:id="Rfd64a7cccb92412d"/>
    <p:sldId id="289" r:id="Rc76a944a07184c89"/>
    <p:sldId id="290" r:id="R9809d490fea343f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83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87f64f6a00cd4cd5" /><Relationship Type="http://schemas.openxmlformats.org/officeDocument/2006/relationships/viewProps" Target="/ppt/viewProps.xml" Id="R8e83c3d4d3a84972" /><Relationship Type="http://schemas.openxmlformats.org/officeDocument/2006/relationships/slideMaster" Target="/ppt/slideMasters/slideMaster1.xml" Id="Rcc1d0b569be24693" /><Relationship Type="http://schemas.openxmlformats.org/officeDocument/2006/relationships/theme" Target="/ppt/slideMasters/theme/theme1.xml" Id="R8d1b434803594709" /><Relationship Type="http://schemas.openxmlformats.org/officeDocument/2006/relationships/slide" Target="/ppt/slides/slide1.xml" Id="Rfdf572aa01c44aee" /><Relationship Type="http://schemas.openxmlformats.org/officeDocument/2006/relationships/slide" Target="/ppt/slides/slide2.xml" Id="R71a77c95a7d0442f" /><Relationship Type="http://schemas.openxmlformats.org/officeDocument/2006/relationships/slide" Target="/ppt/slides/slide3.xml" Id="R0601c92431494b4c" /><Relationship Type="http://schemas.openxmlformats.org/officeDocument/2006/relationships/slide" Target="/ppt/slides/slide4.xml" Id="R76d3a1d99146475a" /><Relationship Type="http://schemas.openxmlformats.org/officeDocument/2006/relationships/slide" Target="/ppt/slides/slide5.xml" Id="R0323af30ccab45c4" /><Relationship Type="http://schemas.openxmlformats.org/officeDocument/2006/relationships/slide" Target="/ppt/slides/slide6.xml" Id="Ra2f9080e8a50440c" /><Relationship Type="http://schemas.openxmlformats.org/officeDocument/2006/relationships/slide" Target="/ppt/slides/slide7.xml" Id="Rd59a390c76fd4a90" /><Relationship Type="http://schemas.openxmlformats.org/officeDocument/2006/relationships/slide" Target="/ppt/slides/slide8.xml" Id="R5dcdf4e8b9eb4de9" /><Relationship Type="http://schemas.openxmlformats.org/officeDocument/2006/relationships/slide" Target="/ppt/slides/slide9.xml" Id="R2a5d9eb2c38c4bbd" /><Relationship Type="http://schemas.openxmlformats.org/officeDocument/2006/relationships/slide" Target="/ppt/slides/slide10.xml" Id="R65193b5f7b064a04" /><Relationship Type="http://schemas.openxmlformats.org/officeDocument/2006/relationships/slide" Target="/ppt/slides/slide11.xml" Id="Ra87609567fc144e7" /><Relationship Type="http://schemas.openxmlformats.org/officeDocument/2006/relationships/slide" Target="/ppt/slides/slide12.xml" Id="R9dedbc48fd744ff7" /><Relationship Type="http://schemas.openxmlformats.org/officeDocument/2006/relationships/slide" Target="/ppt/slides/slide13.xml" Id="R8858fb0613c0461c" /><Relationship Type="http://schemas.openxmlformats.org/officeDocument/2006/relationships/slide" Target="/ppt/slides/slide14.xml" Id="R80e5b33d1a204848" /><Relationship Type="http://schemas.openxmlformats.org/officeDocument/2006/relationships/slide" Target="/ppt/slides/slide15.xml" Id="Ra5fa9a5ca0644e53" /><Relationship Type="http://schemas.openxmlformats.org/officeDocument/2006/relationships/slide" Target="/ppt/slides/slide16.xml" Id="R0e97cbb97f7649e0" /><Relationship Type="http://schemas.openxmlformats.org/officeDocument/2006/relationships/slide" Target="/ppt/slides/slide17.xml" Id="R4e3d8aa74aed4657" /><Relationship Type="http://schemas.openxmlformats.org/officeDocument/2006/relationships/slide" Target="/ppt/slides/slide18.xml" Id="Rd6f1d38672864f08" /><Relationship Type="http://schemas.openxmlformats.org/officeDocument/2006/relationships/slide" Target="/ppt/slides/slide19.xml" Id="Rdcf3f6b49f6944c7" /><Relationship Type="http://schemas.openxmlformats.org/officeDocument/2006/relationships/slide" Target="/ppt/slides/slide20.xml" Id="Red4554e529554263" /><Relationship Type="http://schemas.openxmlformats.org/officeDocument/2006/relationships/slide" Target="/ppt/slides/slide21.xml" Id="Rd4c23eeba6a74e7f" /><Relationship Type="http://schemas.openxmlformats.org/officeDocument/2006/relationships/slide" Target="/ppt/slides/slide22.xml" Id="Raa142dd928914693" /><Relationship Type="http://schemas.openxmlformats.org/officeDocument/2006/relationships/slide" Target="/ppt/slides/slide23.xml" Id="Rb47d5d77c8964811" /><Relationship Type="http://schemas.openxmlformats.org/officeDocument/2006/relationships/slide" Target="/ppt/slides/slide24.xml" Id="R49fe414fee6546ae" /><Relationship Type="http://schemas.openxmlformats.org/officeDocument/2006/relationships/slide" Target="/ppt/slides/slide25.xml" Id="R9f990610ed354e23" /><Relationship Type="http://schemas.openxmlformats.org/officeDocument/2006/relationships/slide" Target="/ppt/slides/slide26.xml" Id="R216ff3f9b82b4fc8" /><Relationship Type="http://schemas.openxmlformats.org/officeDocument/2006/relationships/slide" Target="/ppt/slides/slide27.xml" Id="R86267946afe94d65" /><Relationship Type="http://schemas.openxmlformats.org/officeDocument/2006/relationships/slide" Target="/ppt/slides/slide28.xml" Id="R1e520892d3fa4c42" /><Relationship Type="http://schemas.openxmlformats.org/officeDocument/2006/relationships/slide" Target="/ppt/slides/slide29.xml" Id="R16f14c16221b427c" /><Relationship Type="http://schemas.openxmlformats.org/officeDocument/2006/relationships/slide" Target="/ppt/slides/slide30.xml" Id="Ra963a37a039f49af" /><Relationship Type="http://schemas.openxmlformats.org/officeDocument/2006/relationships/slide" Target="/ppt/slides/slide31.xml" Id="R0c11b4120496441c" /><Relationship Type="http://schemas.openxmlformats.org/officeDocument/2006/relationships/slide" Target="/ppt/slides/slide32.xml" Id="Rcfaf6d6a13564424" /><Relationship Type="http://schemas.openxmlformats.org/officeDocument/2006/relationships/slide" Target="/ppt/slides/slide33.xml" Id="Rfd64a7cccb92412d" /><Relationship Type="http://schemas.openxmlformats.org/officeDocument/2006/relationships/slide" Target="/ppt/slides/slide34.xml" Id="Rc76a944a07184c89" /><Relationship Type="http://schemas.openxmlformats.org/officeDocument/2006/relationships/slide" Target="/ppt/slides/slide35.xml" Id="R9809d490fea343f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d15ac4b5f5435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36b92fd0ee447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524f90eccb49f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97b7f767bd4a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771daa56a0456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9c9899f1ce4f2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b3cc8b8d38467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d002c54a58456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288b89d0a04b6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76d017811a4ab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2a5adcce554251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23e3ce1591984d14" /><Relationship Type="http://schemas.openxmlformats.org/officeDocument/2006/relationships/slideLayout" Target="/ppt/slideLayouts/slideLayout1.xml" Id="Rf96d397029fb4520" /><Relationship Type="http://schemas.openxmlformats.org/officeDocument/2006/relationships/slideLayout" Target="/ppt/slideLayouts/slideLayout2.xml" Id="R8dd3386341d74060" /><Relationship Type="http://schemas.openxmlformats.org/officeDocument/2006/relationships/slideLayout" Target="/ppt/slideLayouts/slideLayout3.xml" Id="R743d0de7f9044191" /><Relationship Type="http://schemas.openxmlformats.org/officeDocument/2006/relationships/slideLayout" Target="/ppt/slideLayouts/slideLayout4.xml" Id="Re45decf169d04733" /><Relationship Type="http://schemas.openxmlformats.org/officeDocument/2006/relationships/slideLayout" Target="/ppt/slideLayouts/slideLayout5.xml" Id="R8e1db679c91f452e" /><Relationship Type="http://schemas.openxmlformats.org/officeDocument/2006/relationships/slideLayout" Target="/ppt/slideLayouts/slideLayout6.xml" Id="Rd6ac149376254df7" /><Relationship Type="http://schemas.openxmlformats.org/officeDocument/2006/relationships/slideLayout" Target="/ppt/slideLayouts/slideLayout7.xml" Id="R8617ec4adfda4987" /><Relationship Type="http://schemas.openxmlformats.org/officeDocument/2006/relationships/slideLayout" Target="/ppt/slideLayouts/slideLayout8.xml" Id="Rbc739e15bf364886" /><Relationship Type="http://schemas.openxmlformats.org/officeDocument/2006/relationships/slideLayout" Target="/ppt/slideLayouts/slideLayout9.xml" Id="R7d50cbd21f134caf" /><Relationship Type="http://schemas.openxmlformats.org/officeDocument/2006/relationships/slideLayout" Target="/ppt/slideLayouts/slideLayout10.xml" Id="R46d5321715794af4" /><Relationship Type="http://schemas.openxmlformats.org/officeDocument/2006/relationships/slideLayout" Target="/ppt/slideLayouts/slideLayout11.xml" Id="R59309dcc4c2541a0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8e1db679c91f452e"/>
    <p:sldLayoutId id="2147483652" r:id="Re45decf169d04733"/>
    <p:sldLayoutId id="2147483650" r:id="R8dd3386341d74060"/>
    <p:sldLayoutId id="2147483658" r:id="R46d5321715794af4"/>
    <p:sldLayoutId id="2147483656" r:id="Rbc739e15bf364886"/>
    <p:sldLayoutId id="2147483654" r:id="Rd6ac149376254df7"/>
    <p:sldLayoutId id="2147483651" r:id="R743d0de7f9044191"/>
    <p:sldLayoutId id="2147483649" r:id="Rf96d397029fb4520"/>
    <p:sldLayoutId id="2147483659" r:id="R59309dcc4c2541a0"/>
    <p:sldLayoutId id="2147483657" r:id="R7d50cbd21f134caf"/>
    <p:sldLayoutId id="2147483655" r:id="R8617ec4adfda498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2f26054aa8340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dd6e10ac9cb42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.bin" Id="R9c03195b8b38471a" /><Relationship Type="http://schemas.openxmlformats.org/officeDocument/2006/relationships/slideLayout" Target="/ppt/slideLayouts/slideLayout3.xml" Id="Rf52c5693490444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d26e0f52b0c43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8befc7c468740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2.bin" Id="Rabe935bd41fd43e6" /><Relationship Type="http://schemas.openxmlformats.org/officeDocument/2006/relationships/slideLayout" Target="/ppt/slideLayouts/slideLayout3.xml" Id="Rc6222dda14d744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7fa863c6a5048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330cf90a06042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04af5e4c4474f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3.bin" Id="R9ba8ed5e91dc4f7f" /><Relationship Type="http://schemas.openxmlformats.org/officeDocument/2006/relationships/slideLayout" Target="/ppt/slideLayouts/slideLayout3.xml" Id="R142c65fa1c8f4e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7b7981cee4a49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4.bin" Id="Rbc0955ef2e7a4584" /><Relationship Type="http://schemas.openxmlformats.org/officeDocument/2006/relationships/slideLayout" Target="/ppt/slideLayouts/slideLayout3.xml" Id="R502964b82b44427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c50d9aa30824dd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5.bin" Id="R4c6204de801a47f6" /><Relationship Type="http://schemas.openxmlformats.org/officeDocument/2006/relationships/slideLayout" Target="/ppt/slideLayouts/slideLayout3.xml" Id="R08e0d4b448c949b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e74aa993790437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82209fd7acf429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6.bin" Id="R66861d7435be415b" /><Relationship Type="http://schemas.openxmlformats.org/officeDocument/2006/relationships/slideLayout" Target="/ppt/slideLayouts/slideLayout3.xml" Id="Ra3a2a554ccdc4da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aa1a663478a460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e3c14b23ede4d0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7b89e618fa941d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image" Target="/ppt/media/image7.bin" Id="R7082f67316834c7b" /><Relationship Type="http://schemas.openxmlformats.org/officeDocument/2006/relationships/slideLayout" Target="/ppt/slideLayouts/slideLayout3.xml" Id="R214b7165ec95406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d34c1566351444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b43a9cea5b840f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c8db004ed6246d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b1d772dcbb1435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image" Target="/ppt/media/image8.bin" Id="R3273105e43204bf9" /><Relationship Type="http://schemas.openxmlformats.org/officeDocument/2006/relationships/slideLayout" Target="/ppt/slideLayouts/slideLayout3.xml" Id="R75d8b62ef6a442a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662a620a23a434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682d37032bb4c4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image" Target="/ppt/media/image9.bin" Id="R773597f3a78746db" /><Relationship Type="http://schemas.openxmlformats.org/officeDocument/2006/relationships/slideLayout" Target="/ppt/slideLayouts/slideLayout3.xml" Id="R13bf1144e9bd4fb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db965442dc6435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1153f42b87a4a4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7620f07cce6414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bdb205ca4994b2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f349b23ca274c2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18df8068e364e4d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43800" y="0"/>
            <a:ext cx="1600200" cy="685800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 rot="16200000">
            <a:off x="7616952" y="274320"/>
            <a:ext cx="1453896" cy="6309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>
                <a:solidFill>
                  <a:srgbClr val="141414"/>
                </a:solidFill>
                <a:latin typeface="Aptos"/>
              </a:defRPr>
            </a:pPr>
            <a:r>
              <a:t>Puzzle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6446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E6E6E6"/>
                </a:solidFill>
                <a:latin typeface="Aptos"/>
              </a:rPr>
              <a:t>Intro</a:t>
            </a:r>
            <a:endParaRPr sz="1600" dirty="0">
              <a:solidFill>
                <a:srgbClr val="E6E6E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BAC2DE"/>
                </a:solidFill>
                <a:latin typeface="Consolas"/>
              </a:rPr>
              <a:t>intro2</a:t>
            </a:r>
            <a:endParaRPr sz="1600" dirty="0">
              <a:solidFill>
                <a:srgbClr val="BAC2DE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43800" y="0"/>
            <a:ext cx="1600200" cy="685800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7616952" y="274320"/>
            <a:ext cx="1453896" cy="6309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>
                <a:solidFill>
                  <a:srgbClr val="141414"/>
                </a:solidFill>
                <a:latin typeface="Aptos"/>
              </a:defRPr>
            </a:pPr>
            <a:r>
              <a:t>Puzzle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6446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6E6E6"/>
                </a:solidFill>
                <a:latin typeface="Aptos"/>
              </a:rPr>
              <a:t>We store sets of integers, </a:t>
            </a:r>
            <a:r>
              <a:rPr sz="1600">
                <a:solidFill>
                  <a:srgbClr val="FFFFFF"/>
                </a:solidFill>
                <a:latin typeface="Consolas"/>
              </a:rPr>
              <a:t>u8</a:t>
            </a:r>
            <a:r>
              <a:rPr sz="1600">
                <a:solidFill>
                  <a:srgbClr val="E6E6E6"/>
                </a:solidFill>
                <a:latin typeface="Aptos"/>
              </a:rPr>
              <a:t>, </a:t>
            </a:r>
            <a:r>
              <a:rPr sz="1600">
                <a:solidFill>
                  <a:srgbClr val="FFFFFF"/>
                </a:solidFill>
                <a:latin typeface="Consolas"/>
              </a:rPr>
              <a:t>i16</a:t>
            </a:r>
            <a:r>
              <a:rPr sz="1600">
                <a:solidFill>
                  <a:srgbClr val="E6E6E6"/>
                </a:solidFill>
                <a:latin typeface="Aptos"/>
              </a:rPr>
              <a:t>, etc.. Every integer type must have functions like </a:t>
            </a:r>
            <a:r>
              <a:rPr sz="1600">
                <a:solidFill>
                  <a:srgbClr val="FFFFFF"/>
                </a:solidFill>
                <a:latin typeface="Consolas"/>
              </a:rPr>
              <a:t>min_value</a:t>
            </a:r>
            <a:r>
              <a:rPr sz="1600">
                <a:solidFill>
                  <a:srgbClr val="E6E6E6"/>
                </a:solidFill>
                <a:latin typeface="Aptos"/>
              </a:rPr>
              <a:t>. We also want all integers to inherit certain other functions such as </a:t>
            </a:r>
            <a:r>
              <a:rPr sz="1600">
                <a:solidFill>
                  <a:srgbClr val="FFFFFF"/>
                </a:solidFill>
                <a:latin typeface="Consolas"/>
              </a:rPr>
              <a:t>exhausted_range</a:t>
            </a:r>
            <a:r>
              <a:rPr sz="1600">
                <a:solidFill>
                  <a:srgbClr val="E6E6E6"/>
                </a:solidFill>
                <a:latin typeface="Aptos"/>
              </a:rPr>
              <a:t>.</a:t>
            </a:r>
          </a:p>
        </p:txBody>
      </p:sp>
      <p:pic>
        <p:nvPicPr>
          <p:cNvPr id="6" name="Picture 5" descr="1_puzzle_diagram.png"/>
          <p:cNvPicPr>
            <a:picLocks noChangeAspect="1"/>
          </p:cNvPicPr>
          <p:nvPr/>
        </p:nvPicPr>
        <p:blipFill>
          <a:blip r:embed="R9c03195b8b38471a"/>
          <a:stretch>
            <a:fillRect/>
          </a:stretch>
        </p:blipFill>
        <p:spPr>
          <a:xfrm>
            <a:off x="1259576" y="1691640"/>
            <a:ext cx="5024647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use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std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ops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RangeInclusive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Mini `range-set-blaze` Integer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TECHNIQUE NAME: Trait Default Methods.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trait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Copy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+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Ord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min_value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max_value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Default behavior inherited by implementors.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Any impl can override this method.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3E88D"/>
                </a:solidFill>
                <a:latin typeface="Consolas"/>
              </a:rPr>
              <a:t>/// Returns an exhausted (empty) range`.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exhausted_range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RangeInclusive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2AAFF"/>
                </a:solidFill>
                <a:latin typeface="Consolas"/>
              </a:rPr>
              <a:t>debug_assert!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min_value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max_value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Precondition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max_value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89DDFF"/>
                </a:solidFill>
                <a:latin typeface="Consolas"/>
              </a:rPr>
              <a:t>..=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min_value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u8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min_value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u8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MIN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max_value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u8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MAX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i16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min_value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i16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MIN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max_value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i16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MAX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main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r1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u8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exhausted_range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r2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i16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exhausted_range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r1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is_empty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r2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is_empty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43800" y="0"/>
            <a:ext cx="1600200" cy="685800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7616952" y="274320"/>
            <a:ext cx="1453896" cy="6309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>
                <a:solidFill>
                  <a:srgbClr val="141414"/>
                </a:solidFill>
                <a:latin typeface="Aptos"/>
              </a:defRPr>
            </a:pPr>
            <a:r>
              <a:t>Puzzle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6446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6E6E6"/>
                </a:solidFill>
                <a:latin typeface="Aptos"/>
              </a:rPr>
              <a:t>A servo is an electric motor that can move to a specified angle.</a:t>
            </a:r>
          </a:p>
        </p:txBody>
      </p:sp>
      <p:pic>
        <p:nvPicPr>
          <p:cNvPr id="6" name="Picture 5" descr="2_puzzle_diagram.png"/>
          <p:cNvPicPr>
            <a:picLocks noChangeAspect="1"/>
          </p:cNvPicPr>
          <p:nvPr/>
        </p:nvPicPr>
        <p:blipFill>
          <a:blip r:embed="Rabe935bd41fd43e6"/>
          <a:stretch>
            <a:fillRect/>
          </a:stretch>
        </p:blipFill>
        <p:spPr>
          <a:xfrm>
            <a:off x="1436588" y="1691640"/>
            <a:ext cx="467062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use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std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thread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use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std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time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Duration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`Servo` is an abstract contract (a trait), not a concrete driver.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trait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Servo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set_degrees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degrees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u16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`ServoPlayer` is also abstract. It extends `Servo` (supertrait), so any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`ServoPlayer` can do everything in `Servo` plus animation.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TECHNIQUE NAME: Supertrait Default Methods.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(This example shows supertrait-based interface extension.)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trait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ServoPlayer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Servo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(degrees, milliseconds to hold at that angle)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animate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steps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&amp;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u16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u64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Concrete servo driver (similar naming to the real example): `ServoEsp`.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struct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ServoEsp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Servo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ServoEsp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set_degrees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degrees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u16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2AAFF"/>
                </a:solidFill>
                <a:latin typeface="Consolas"/>
              </a:rPr>
              <a:t>println!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[ServoEsp] set angle -&gt; {degrees}°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Concrete servo player driver that can animate.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struct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ServoPlayerEsp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Servo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ServoPlayerEsp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set_degrees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degrees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u16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2AAFF"/>
                </a:solidFill>
                <a:latin typeface="Consolas"/>
              </a:rPr>
              <a:t>println!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[ServoPlayerEsp] set angle -&gt; {degrees}°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ServoPlayer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ServoPlayerEsp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animate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steps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&amp;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u16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u64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degrees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ms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in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steps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set_degrees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*</a:t>
            </a:r>
            <a:r>
              <a:rPr sz="1600">
                <a:solidFill>
                  <a:srgbClr val="EEFFFF"/>
                </a:solidFill>
                <a:latin typeface="Consolas"/>
              </a:rPr>
              <a:t>degrees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82AAFF"/>
                </a:solidFill>
                <a:latin typeface="Consolas"/>
              </a:rPr>
              <a:t>println!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[ServoPlayerEsp] hold for {ms}ms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EEFFFF"/>
                </a:solidFill>
                <a:latin typeface="Consolas"/>
              </a:rPr>
              <a:t>thread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sleep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Duration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from_millis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*</a:t>
            </a:r>
            <a:r>
              <a:rPr sz="1600">
                <a:solidFill>
                  <a:srgbClr val="EEFFFF"/>
                </a:solidFill>
                <a:latin typeface="Consolas"/>
              </a:rPr>
              <a:t>ms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Generic program that only needs a `Servo`.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center_servo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servo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&amp;</a:t>
            </a:r>
            <a:r>
              <a:rPr sz="1600">
                <a:solidFill>
                  <a:srgbClr val="FFCB6B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Servo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servo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set_degrees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F78C6C"/>
                </a:solidFill>
                <a:latin typeface="Consolas"/>
              </a:rPr>
              <a:t>90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Generic program that needs a `ServoPlayer`.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run_wave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player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&amp;</a:t>
            </a:r>
            <a:r>
              <a:rPr sz="1600">
                <a:solidFill>
                  <a:srgbClr val="FFCB6B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ServoPlayer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player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animate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F78C6C"/>
                </a:solidFill>
                <a:latin typeface="Consolas"/>
              </a:rPr>
              <a:t>0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120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F78C6C"/>
                </a:solidFill>
                <a:latin typeface="Consolas"/>
              </a:rPr>
              <a:t>45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100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F78C6C"/>
                </a:solidFill>
                <a:latin typeface="Consolas"/>
              </a:rPr>
              <a:t>90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100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F78C6C"/>
                </a:solidFill>
                <a:latin typeface="Consolas"/>
              </a:rPr>
              <a:t>135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100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F78C6C"/>
                </a:solidFill>
                <a:latin typeface="Consolas"/>
              </a:rPr>
              <a:t>180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120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F78C6C"/>
                </a:solidFill>
                <a:latin typeface="Consolas"/>
              </a:rPr>
              <a:t>135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100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F78C6C"/>
                </a:solidFill>
                <a:latin typeface="Consolas"/>
              </a:rPr>
              <a:t>90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100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F78C6C"/>
                </a:solidFill>
                <a:latin typeface="Consolas"/>
              </a:rPr>
              <a:t>45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100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F78C6C"/>
                </a:solidFill>
                <a:latin typeface="Consolas"/>
              </a:rPr>
              <a:t>0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120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main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servo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ServoEsp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servo_player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ServoPlayerEsp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center_servo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servo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`ServoPlayer` can do everything `Servo` can!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center_servo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servo_player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and more.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run_wave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servo_player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43800" y="0"/>
            <a:ext cx="1600200" cy="685800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7616952" y="274320"/>
            <a:ext cx="1453896" cy="6309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>
                <a:solidFill>
                  <a:srgbClr val="141414"/>
                </a:solidFill>
                <a:latin typeface="Aptos"/>
              </a:defRPr>
            </a:pPr>
            <a:r>
              <a:t>Puzzle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6446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6E6E6"/>
                </a:solidFill>
                <a:latin typeface="Aptos"/>
              </a:rPr>
              <a:t>We want to add a new method </a:t>
            </a:r>
            <a:r>
              <a:rPr sz="1600">
                <a:solidFill>
                  <a:srgbClr val="FFFFFF"/>
                </a:solidFill>
                <a:latin typeface="Consolas"/>
              </a:rPr>
              <a:t>is_odd()</a:t>
            </a:r>
            <a:r>
              <a:rPr sz="1600">
                <a:solidFill>
                  <a:srgbClr val="E6E6E6"/>
                </a:solidFill>
                <a:latin typeface="Aptos"/>
              </a:rPr>
              <a:t> to an existing concrete type </a:t>
            </a:r>
            <a:r>
              <a:rPr sz="1600">
                <a:solidFill>
                  <a:srgbClr val="FFFFFF"/>
                </a:solidFill>
                <a:latin typeface="Consolas"/>
              </a:rPr>
              <a:t>usize</a:t>
            </a:r>
            <a:r>
              <a:rPr sz="1600">
                <a:solidFill>
                  <a:srgbClr val="E6E6E6"/>
                </a:solidFill>
                <a:latin typeface="Aptos"/>
              </a:rPr>
              <a:t>, even though we do not own that type.</a:t>
            </a:r>
          </a:p>
        </p:txBody>
      </p:sp>
      <p:pic>
        <p:nvPicPr>
          <p:cNvPr id="6" name="Picture 5" descr="3_puzzle_diagram.png"/>
          <p:cNvPicPr>
            <a:picLocks noChangeAspect="1"/>
          </p:cNvPicPr>
          <p:nvPr/>
        </p:nvPicPr>
        <p:blipFill>
          <a:blip r:embed="R9ba8ed5e91dc4f7f"/>
          <a:stretch>
            <a:fillRect/>
          </a:stretch>
        </p:blipFill>
        <p:spPr>
          <a:xfrm>
            <a:off x="1889291" y="1691640"/>
            <a:ext cx="3765217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trait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UsizeExtensions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is_odd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bool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UsizeExtensions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usize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is_odd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bool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0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TECHNIQUE NAME: extension traits.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main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count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usize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7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count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is_odd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F78C6C"/>
                </a:solidFill>
                <a:latin typeface="Consolas"/>
              </a:rPr>
              <a:t>12.</a:t>
            </a:r>
            <a:r>
              <a:rPr sz="1600">
                <a:solidFill>
                  <a:srgbClr val="EEFFFF"/>
                </a:solidFill>
                <a:latin typeface="Consolas"/>
              </a:rPr>
              <a:t>is_odd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43800" y="0"/>
            <a:ext cx="1600200" cy="685800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7616952" y="274320"/>
            <a:ext cx="1453896" cy="6309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>
                <a:solidFill>
                  <a:srgbClr val="141414"/>
                </a:solidFill>
                <a:latin typeface="Aptos"/>
              </a:defRPr>
            </a:pPr>
            <a:r>
              <a:t>Puzzle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6446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6E6E6"/>
                </a:solidFill>
                <a:latin typeface="Aptos"/>
              </a:rPr>
              <a:t>We want a small </a:t>
            </a:r>
            <a:r>
              <a:rPr sz="1600">
                <a:solidFill>
                  <a:srgbClr val="FFFFFF"/>
                </a:solidFill>
                <a:latin typeface="Consolas"/>
              </a:rPr>
              <a:t>LedLevel</a:t>
            </a:r>
            <a:r>
              <a:rPr sz="1600">
                <a:solidFill>
                  <a:srgbClr val="E6E6E6"/>
                </a:solidFill>
                <a:latin typeface="Aptos"/>
              </a:rPr>
              <a:t> enum type with two values (</a:t>
            </a:r>
            <a:r>
              <a:rPr sz="1600">
                <a:solidFill>
                  <a:srgbClr val="FFFFFF"/>
                </a:solidFill>
                <a:latin typeface="Consolas"/>
              </a:rPr>
              <a:t>On</a:t>
            </a:r>
            <a:r>
              <a:rPr sz="1600">
                <a:solidFill>
                  <a:srgbClr val="E6E6E6"/>
                </a:solidFill>
                <a:latin typeface="Aptos"/>
              </a:rPr>
              <a:t>, </a:t>
            </a:r>
            <a:r>
              <a:rPr sz="1600">
                <a:solidFill>
                  <a:srgbClr val="FFFFFF"/>
                </a:solidFill>
                <a:latin typeface="Consolas"/>
              </a:rPr>
              <a:t>Off</a:t>
            </a:r>
            <a:r>
              <a:rPr sz="1600">
                <a:solidFill>
                  <a:srgbClr val="E6E6E6"/>
                </a:solidFill>
                <a:latin typeface="Aptos"/>
              </a:rPr>
              <a:t>) that automatically participates in common behaviors (default value, debugging output, equality/order comparisons, hashing, copy/clone).</a:t>
            </a:r>
          </a:p>
        </p:txBody>
      </p:sp>
      <p:pic>
        <p:nvPicPr>
          <p:cNvPr id="6" name="Picture 5" descr="4_puzzle_diagram.png"/>
          <p:cNvPicPr>
            <a:picLocks noChangeAspect="1"/>
          </p:cNvPicPr>
          <p:nvPr/>
        </p:nvPicPr>
        <p:blipFill>
          <a:blip r:embed="Rbc0955ef2e7a4584"/>
          <a:stretch>
            <a:fillRect/>
          </a:stretch>
        </p:blipFill>
        <p:spPr>
          <a:xfrm>
            <a:off x="274319" y="1691640"/>
            <a:ext cx="6995160" cy="28819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TECHNIQUE NAME: derive-generated implementation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#[</a:t>
            </a:r>
            <a:r>
              <a:rPr sz="1600">
                <a:solidFill>
                  <a:srgbClr val="6A9955"/>
                </a:solidFill>
                <a:latin typeface="Consolas"/>
              </a:rPr>
              <a:t>derive(Clone, Copy, Debug, Eq, Hash, Ord, PartialEq, PartialOrd, Default)</a:t>
            </a:r>
            <a:r>
              <a:rPr sz="1600">
                <a:solidFill>
                  <a:srgbClr val="6A9955"/>
                </a:solidFill>
                <a:latin typeface="Consolas"/>
              </a:rPr>
              <a:t>]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enum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LedLevel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On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#[</a:t>
            </a:r>
            <a:r>
              <a:rPr sz="1600">
                <a:solidFill>
                  <a:srgbClr val="6A9955"/>
                </a:solidFill>
                <a:latin typeface="Consolas"/>
              </a:rPr>
              <a:t>default</a:t>
            </a:r>
            <a:r>
              <a:rPr sz="1600">
                <a:solidFill>
                  <a:srgbClr val="6A9955"/>
                </a:solidFill>
                <a:latin typeface="Consolas"/>
              </a:rPr>
              <a:t>]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Off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main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default_level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LedLevel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default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LedLevel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On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off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LedLevel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Off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default_level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LedLevel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Off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assert_ne!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on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off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off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on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`Copy` + `Clone` come from derive too.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copied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on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cloned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off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clone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copied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on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cloned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off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43800" y="0"/>
            <a:ext cx="1600200" cy="685800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7616952" y="274320"/>
            <a:ext cx="1453896" cy="6309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>
                <a:solidFill>
                  <a:srgbClr val="141414"/>
                </a:solidFill>
                <a:latin typeface="Aptos"/>
              </a:defRPr>
            </a:pPr>
            <a:r>
              <a:t>Puzzle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6446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6E6E6"/>
                </a:solidFill>
                <a:latin typeface="Aptos"/>
              </a:rPr>
              <a:t>We want an </a:t>
            </a:r>
            <a:r>
              <a:rPr sz="1600">
                <a:solidFill>
                  <a:srgbClr val="FFFFFF"/>
                </a:solidFill>
                <a:latin typeface="Consolas"/>
              </a:rPr>
              <a:t>HtmlBuffer</a:t>
            </a:r>
            <a:r>
              <a:rPr sz="1600">
                <a:solidFill>
                  <a:srgbClr val="E6E6E6"/>
                </a:solidFill>
                <a:latin typeface="Aptos"/>
              </a:rPr>
              <a:t> to feel like a string for everyday method calls, while still being its own distinct type. Note that </a:t>
            </a:r>
            <a:r>
              <a:rPr sz="1600">
                <a:solidFill>
                  <a:srgbClr val="FFFFFF"/>
                </a:solidFill>
                <a:latin typeface="Consolas"/>
              </a:rPr>
              <a:t>String</a:t>
            </a:r>
            <a:r>
              <a:rPr sz="1600">
                <a:solidFill>
                  <a:srgbClr val="E6E6E6"/>
                </a:solidFill>
                <a:latin typeface="Aptos"/>
              </a:rPr>
              <a:t> is a concrete type with storage, not just an interface/trait/abstract base class.</a:t>
            </a:r>
          </a:p>
        </p:txBody>
      </p:sp>
      <p:pic>
        <p:nvPicPr>
          <p:cNvPr id="6" name="Picture 5" descr="5_puzzle_diagram.png"/>
          <p:cNvPicPr>
            <a:picLocks noChangeAspect="1"/>
          </p:cNvPicPr>
          <p:nvPr/>
        </p:nvPicPr>
        <p:blipFill>
          <a:blip r:embed="R4c6204de801a47f6"/>
          <a:stretch>
            <a:fillRect/>
          </a:stretch>
        </p:blipFill>
        <p:spPr>
          <a:xfrm>
            <a:off x="2606213" y="1691640"/>
            <a:ext cx="2331373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use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std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ops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Deref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DerefMut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struct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HtmlBuffer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String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HtmlBuffer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new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String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new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Deref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HtmlBuffer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type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Target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String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deref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&amp;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Target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F78C6C"/>
                </a:solidFill>
                <a:latin typeface="Consolas"/>
              </a:rPr>
              <a:t>0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DerefMut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HtmlBuffer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deref_mut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&amp;</a:t>
            </a:r>
            <a:r>
              <a:rPr sz="1600">
                <a:solidFill>
                  <a:srgbClr val="FFCB6B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Target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F78C6C"/>
                </a:solidFill>
                <a:latin typeface="Consolas"/>
              </a:rPr>
              <a:t>0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TECHNIQUE NAME: deref lookup.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main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page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HtmlBuffer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new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`push_str` and `len` are String methods found via deref lookup.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page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push_str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&lt;h1&gt;Hello&lt;/h1&gt;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page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push_str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&lt;p&gt;Rust&lt;/p&gt;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page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len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25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Borrow the thing `page` points to and compare.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89DDFF"/>
                </a:solidFill>
                <a:latin typeface="Consolas"/>
              </a:rPr>
              <a:t>*</a:t>
            </a:r>
            <a:r>
              <a:rPr sz="1600">
                <a:solidFill>
                  <a:srgbClr val="EEFFFF"/>
                </a:solidFill>
                <a:latin typeface="Consolas"/>
              </a:rPr>
              <a:t>page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&lt;h1&gt;Hello&lt;/h1&gt;&lt;p&gt;Rust&lt;/p&gt;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Good for `Box`, `Rc`, etc., but not really good here.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Also see AsRef, From, and Borrow traits.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43800" y="0"/>
            <a:ext cx="1600200" cy="685800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7616952" y="274320"/>
            <a:ext cx="1453896" cy="6309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>
                <a:solidFill>
                  <a:srgbClr val="141414"/>
                </a:solidFill>
                <a:latin typeface="Aptos"/>
              </a:defRPr>
            </a:pPr>
            <a:r>
              <a:t>Puzzle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6446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6E6E6"/>
                </a:solidFill>
                <a:latin typeface="Aptos"/>
              </a:rPr>
              <a:t>We want to union any number of sets (</a:t>
            </a:r>
            <a:r>
              <a:rPr sz="1600">
                <a:solidFill>
                  <a:srgbClr val="FFFFFF"/>
                </a:solidFill>
                <a:latin typeface="Consolas"/>
              </a:rPr>
              <a:t>RangeSetBlaze&lt;T&gt;</a:t>
            </a:r>
            <a:r>
              <a:rPr sz="1600">
                <a:solidFill>
                  <a:srgbClr val="E6E6E6"/>
                </a:solidFill>
                <a:latin typeface="Aptos"/>
              </a:rPr>
              <a:t>). In OO terms, any collection that is an iterable of </a:t>
            </a:r>
            <a:r>
              <a:rPr sz="1600">
                <a:solidFill>
                  <a:srgbClr val="FFFFFF"/>
                </a:solidFill>
                <a:latin typeface="Consolas"/>
              </a:rPr>
              <a:t>RangeSetBlaze&lt;T&gt;</a:t>
            </a:r>
            <a:r>
              <a:rPr sz="1600">
                <a:solidFill>
                  <a:srgbClr val="E6E6E6"/>
                </a:solidFill>
                <a:latin typeface="Aptos"/>
              </a:rPr>
              <a:t> references should inherit this operation.</a:t>
            </a:r>
          </a:p>
        </p:txBody>
      </p:sp>
      <p:pic>
        <p:nvPicPr>
          <p:cNvPr id="6" name="Picture 5" descr="6_puzzle_diagram.png"/>
          <p:cNvPicPr>
            <a:picLocks noChangeAspect="1"/>
          </p:cNvPicPr>
          <p:nvPr/>
        </p:nvPicPr>
        <p:blipFill>
          <a:blip r:embed="R66861d7435be415b"/>
          <a:stretch>
            <a:fillRect/>
          </a:stretch>
        </p:blipFill>
        <p:spPr>
          <a:xfrm>
            <a:off x="433134" y="1691640"/>
            <a:ext cx="667753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use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std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collections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BTreeSet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For this example, use u64 as our stand-in integer type.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type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u64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Mock up RangeSetBlaze as a BTreeSet wrapper for demo purposes.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#[</a:t>
            </a:r>
            <a:r>
              <a:rPr sz="1600">
                <a:solidFill>
                  <a:srgbClr val="6A9955"/>
                </a:solidFill>
                <a:latin typeface="Consolas"/>
              </a:rPr>
              <a:t>derive(Debug, Clone, PartialEq, Eq)</a:t>
            </a:r>
            <a:r>
              <a:rPr sz="1600">
                <a:solidFill>
                  <a:srgbClr val="6A9955"/>
                </a:solidFill>
                <a:latin typeface="Consolas"/>
              </a:rPr>
              <a:t>]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struct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RangeSetBlaze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values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BTreeSet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RangeSetBlaze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new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EEFFFF"/>
                </a:solidFill>
                <a:latin typeface="Consolas"/>
              </a:rPr>
              <a:t>values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BTreeSet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new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Construct from a slice of Integer values.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from_slice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values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&amp;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EEFFFF"/>
                </a:solidFill>
                <a:latin typeface="Consolas"/>
              </a:rPr>
              <a:t>values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values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iter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copied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collect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Return a new set that is the union of two borrowed sets.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union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other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&amp;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EEFFFF"/>
                </a:solidFill>
                <a:latin typeface="Consolas"/>
              </a:rPr>
              <a:t>values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values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C792EA"/>
                </a:solidFill>
                <a:latin typeface="Consolas"/>
              </a:rPr>
              <a:t>union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other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values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copied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collect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is_empty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bool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values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is_empty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A RangeSetCollection is any type that can be turned into an iterator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over borrowed RangeSetBlaze values.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TECHNIQUE NAME: "blanket implementation".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One impl applies to every type that matches the bound.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trait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RangeSetCollection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89DDFF"/>
                </a:solidFill>
                <a:latin typeface="Consolas"/>
              </a:rPr>
              <a:t>'</a:t>
            </a:r>
            <a:r>
              <a:rPr sz="1600">
                <a:solidFill>
                  <a:srgbClr val="EEFFFF"/>
                </a:solidFill>
                <a:latin typeface="Consolas"/>
              </a:rPr>
              <a:t>a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IntoIterator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EEFFFF"/>
                </a:solidFill>
                <a:latin typeface="Consolas"/>
              </a:rPr>
              <a:t>Item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89DDFF"/>
                </a:solidFill>
                <a:latin typeface="Consolas"/>
              </a:rPr>
              <a:t>'</a:t>
            </a:r>
            <a:r>
              <a:rPr sz="1600">
                <a:solidFill>
                  <a:srgbClr val="EEFFFF"/>
                </a:solidFill>
                <a:latin typeface="Consolas"/>
              </a:rPr>
              <a:t>a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RangeSetBlaze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union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RangeSetBlaze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where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Sized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result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RangeSetBlaze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new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in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EEFFFF"/>
                </a:solidFill>
                <a:latin typeface="Consolas"/>
              </a:rPr>
              <a:t>result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RangeSetBlaze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C792EA"/>
                </a:solidFill>
                <a:latin typeface="Consolas"/>
              </a:rPr>
              <a:t>union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result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set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EEFFFF"/>
                </a:solidFill>
                <a:latin typeface="Consolas"/>
              </a:rPr>
              <a:t>result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Blanket implementation: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Any type that can be turned into an iterator over &amp;RangeSetBlaze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automatically implements RangeSetCollection.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89DDFF"/>
                </a:solidFill>
                <a:latin typeface="Consolas"/>
              </a:rPr>
              <a:t>'</a:t>
            </a:r>
            <a:r>
              <a:rPr sz="1600">
                <a:solidFill>
                  <a:srgbClr val="EEFFFF"/>
                </a:solidFill>
                <a:latin typeface="Consolas"/>
              </a:rPr>
              <a:t>a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RangeSetCollection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89DDFF"/>
                </a:solidFill>
                <a:latin typeface="Consolas"/>
              </a:rPr>
              <a:t>'</a:t>
            </a:r>
            <a:r>
              <a:rPr sz="1600">
                <a:solidFill>
                  <a:srgbClr val="EEFFFF"/>
                </a:solidFill>
                <a:latin typeface="Consolas"/>
              </a:rPr>
              <a:t>a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where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IntoIterator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EEFFFF"/>
                </a:solidFill>
                <a:latin typeface="Consolas"/>
              </a:rPr>
              <a:t>Item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89DDFF"/>
                </a:solidFill>
                <a:latin typeface="Consolas"/>
              </a:rPr>
              <a:t>'</a:t>
            </a:r>
            <a:r>
              <a:rPr sz="1600">
                <a:solidFill>
                  <a:srgbClr val="EEFFFF"/>
                </a:solidFill>
                <a:latin typeface="Consolas"/>
              </a:rPr>
              <a:t>a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RangeSetBlaze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main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a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RangeSetBlaze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from_slice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F78C6C"/>
                </a:solidFill>
                <a:latin typeface="Consolas"/>
              </a:rPr>
              <a:t>1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2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3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b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RangeSetBlaze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from_slice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F78C6C"/>
                </a:solidFill>
                <a:latin typeface="Consolas"/>
              </a:rPr>
              <a:t>3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4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5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c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RangeSetBlaze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from_slice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F78C6C"/>
                </a:solidFill>
                <a:latin typeface="Consolas"/>
              </a:rPr>
              <a:t>5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7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9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expected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RangeSetBlaze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from_slice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F78C6C"/>
                </a:solidFill>
                <a:latin typeface="Consolas"/>
              </a:rPr>
              <a:t>1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2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3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4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5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7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9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A vector of sets can be unioned together.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2AAFF"/>
                </a:solidFill>
                <a:latin typeface="Consolas"/>
              </a:rPr>
              <a:t>vec!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a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b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c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C792EA"/>
                </a:solidFill>
                <a:latin typeface="Consolas"/>
              </a:rPr>
              <a:t>union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expected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An array of sets can be unioned together.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a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b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c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C792EA"/>
                </a:solidFill>
                <a:latin typeface="Consolas"/>
              </a:rPr>
              <a:t>union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expected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A filtered option can be unioned.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Some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a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filter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|</a:t>
            </a:r>
            <a:r>
              <a:rPr sz="1600">
                <a:solidFill>
                  <a:srgbClr val="EEFFFF"/>
                </a:solidFill>
                <a:latin typeface="Consolas"/>
              </a:rPr>
              <a:t>set</a:t>
            </a:r>
            <a:r>
              <a:rPr sz="1600">
                <a:solidFill>
                  <a:srgbClr val="89DDFF"/>
                </a:solidFill>
                <a:latin typeface="Consolas"/>
              </a:rPr>
              <a:t>|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EEFFFF"/>
                </a:solidFill>
                <a:latin typeface="Consolas"/>
              </a:rPr>
              <a:t>set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is_empty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C792EA"/>
                </a:solidFill>
                <a:latin typeface="Consolas"/>
              </a:rPr>
              <a:t>union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a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43800" y="0"/>
            <a:ext cx="1600200" cy="685800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7616952" y="274320"/>
            <a:ext cx="1453896" cy="6309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>
                <a:solidFill>
                  <a:srgbClr val="141414"/>
                </a:solidFill>
                <a:latin typeface="Aptos"/>
              </a:defRPr>
            </a:pPr>
            <a:r>
              <a:t>Puzzle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6446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6E6E6"/>
                </a:solidFill>
                <a:latin typeface="Aptos"/>
              </a:rPr>
              <a:t>Treat 15 integer-like types uniformly: </a:t>
            </a:r>
            <a:r>
              <a:rPr sz="1600">
                <a:solidFill>
                  <a:srgbClr val="FFFFFF"/>
                </a:solidFill>
                <a:latin typeface="Consolas"/>
              </a:rPr>
              <a:t>u8</a:t>
            </a:r>
            <a:r>
              <a:rPr sz="1600">
                <a:solidFill>
                  <a:srgbClr val="E6E6E6"/>
                </a:solidFill>
                <a:latin typeface="Aptos"/>
              </a:rPr>
              <a:t>, ..., </a:t>
            </a:r>
            <a:r>
              <a:rPr sz="1600">
                <a:solidFill>
                  <a:srgbClr val="FFFFFF"/>
                </a:solidFill>
                <a:latin typeface="Consolas"/>
              </a:rPr>
              <a:t>usize</a:t>
            </a:r>
            <a:r>
              <a:rPr sz="1600">
                <a:solidFill>
                  <a:srgbClr val="E6E6E6"/>
                </a:solidFill>
                <a:latin typeface="Aptos"/>
              </a:rPr>
              <a:t>, ...</a:t>
            </a:r>
            <a:r>
              <a:rPr sz="1600">
                <a:solidFill>
                  <a:srgbClr val="FFFFFF"/>
                </a:solidFill>
                <a:latin typeface="Consolas"/>
              </a:rPr>
              <a:t>i128</a:t>
            </a:r>
            <a:r>
              <a:rPr sz="1600">
                <a:solidFill>
                  <a:srgbClr val="E6E6E6"/>
                </a:solidFill>
                <a:latin typeface="Aptos"/>
              </a:rPr>
              <a:t>, </a:t>
            </a:r>
            <a:r>
              <a:rPr sz="1600">
                <a:solidFill>
                  <a:srgbClr val="FFFFFF"/>
                </a:solidFill>
                <a:latin typeface="Consolas"/>
              </a:rPr>
              <a:t>char</a:t>
            </a:r>
            <a:r>
              <a:rPr sz="1600">
                <a:solidFill>
                  <a:srgbClr val="E6E6E6"/>
                </a:solidFill>
                <a:latin typeface="Aptos"/>
              </a:rPr>
              <a:t>, </a:t>
            </a:r>
            <a:r>
              <a:rPr sz="1600">
                <a:solidFill>
                  <a:srgbClr val="FFFFFF"/>
                </a:solidFill>
                <a:latin typeface="Consolas"/>
              </a:rPr>
              <a:t>IPv4</a:t>
            </a:r>
            <a:r>
              <a:rPr sz="1600">
                <a:solidFill>
                  <a:srgbClr val="E6E6E6"/>
                </a:solidFill>
                <a:latin typeface="Aptos"/>
              </a:rPr>
              <a:t>, </a:t>
            </a:r>
            <a:r>
              <a:rPr sz="1600">
                <a:solidFill>
                  <a:srgbClr val="FFFFFF"/>
                </a:solidFill>
                <a:latin typeface="Consolas"/>
              </a:rPr>
              <a:t>IPv6</a:t>
            </a:r>
            <a:r>
              <a:rPr sz="1600">
                <a:solidFill>
                  <a:srgbClr val="E6E6E6"/>
                </a:solidFill>
                <a:latin typeface="Aptos"/>
              </a:rPr>
              <a:t> For example, with a </a:t>
            </a:r>
            <a:r>
              <a:rPr sz="1600">
                <a:solidFill>
                  <a:srgbClr val="FFFFFF"/>
                </a:solidFill>
                <a:latin typeface="Consolas"/>
              </a:rPr>
              <a:t>min</a:t>
            </a:r>
            <a:r>
              <a:rPr sz="1600">
                <a:solidFill>
                  <a:srgbClr val="E6E6E6"/>
                </a:solidFill>
                <a:latin typeface="Aptos"/>
              </a:rPr>
              <a:t>, </a:t>
            </a:r>
            <a:r>
              <a:rPr sz="1600">
                <a:solidFill>
                  <a:srgbClr val="FFFFFF"/>
                </a:solidFill>
                <a:latin typeface="Consolas"/>
              </a:rPr>
              <a:t>max</a:t>
            </a:r>
            <a:r>
              <a:rPr sz="1600">
                <a:solidFill>
                  <a:srgbClr val="E6E6E6"/>
                </a:solidFill>
                <a:latin typeface="Aptos"/>
              </a:rPr>
              <a:t>, and ability to add one (unchecked).</a:t>
            </a:r>
          </a:p>
        </p:txBody>
      </p:sp>
      <p:pic>
        <p:nvPicPr>
          <p:cNvPr id="6" name="Picture 5" descr="7_puzzle_diagram.png"/>
          <p:cNvPicPr>
            <a:picLocks noChangeAspect="1"/>
          </p:cNvPicPr>
          <p:nvPr/>
        </p:nvPicPr>
        <p:blipFill>
          <a:blip r:embed="R7082f67316834c7b"/>
          <a:stretch>
            <a:fillRect/>
          </a:stretch>
        </p:blipFill>
        <p:spPr>
          <a:xfrm>
            <a:off x="274319" y="1691640"/>
            <a:ext cx="6995160" cy="455934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use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std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net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Ipv4Addr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Ipv6Addr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trait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Copy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+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Ord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add_one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min_value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max_value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2AAFF"/>
                </a:solidFill>
                <a:latin typeface="Consolas"/>
              </a:rPr>
              <a:t>macro_rules!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6A9955"/>
                </a:solidFill>
                <a:latin typeface="Consolas"/>
              </a:rPr>
              <a:t>$t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FFCB6B"/>
                </a:solidFill>
                <a:latin typeface="Consolas"/>
              </a:rPr>
              <a:t>ty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add_one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+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min_value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6A9955"/>
                </a:solidFill>
                <a:latin typeface="Consolas"/>
              </a:rPr>
              <a:t>$t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MIN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max_value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6A9955"/>
                </a:solidFill>
                <a:latin typeface="Consolas"/>
              </a:rPr>
              <a:t>$t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MAX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2AAFF"/>
                </a:solidFill>
                <a:latin typeface="Consolas"/>
              </a:rPr>
              <a:t>macro_rules!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impl_integer_ops_ip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6A9955"/>
                </a:solidFill>
                <a:latin typeface="Consolas"/>
              </a:rPr>
              <a:t>$ip_type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FFCB6B"/>
                </a:solidFill>
                <a:latin typeface="Consolas"/>
              </a:rPr>
              <a:t>ty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6A9955"/>
                </a:solidFill>
                <a:latin typeface="Consolas"/>
              </a:rPr>
              <a:t>$representation_type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FFCB6B"/>
                </a:solidFill>
                <a:latin typeface="Consolas"/>
              </a:rPr>
              <a:t>ty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add_one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6A9955"/>
                </a:solidFill>
                <a:latin typeface="Consolas"/>
              </a:rPr>
              <a:t>$ip_type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6A9955"/>
                </a:solidFill>
                <a:latin typeface="Consolas"/>
              </a:rPr>
              <a:t>$representation_type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wrapping_add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F78C6C"/>
                </a:solidFill>
                <a:latin typeface="Consolas"/>
              </a:rPr>
              <a:t>1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min_value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6A9955"/>
                </a:solidFill>
                <a:latin typeface="Consolas"/>
              </a:rPr>
              <a:t>$ip_type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6A9955"/>
                </a:solidFill>
                <a:latin typeface="Consolas"/>
              </a:rPr>
              <a:t>$representation_type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MIN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max_value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6A9955"/>
                </a:solidFill>
                <a:latin typeface="Consolas"/>
              </a:rPr>
              <a:t>$ip_type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6A9955"/>
                </a:solidFill>
                <a:latin typeface="Consolas"/>
              </a:rPr>
              <a:t>$representation_type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MAX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2AAFF"/>
                </a:solidFill>
                <a:latin typeface="Consolas"/>
              </a:rPr>
              <a:t>macro_rules!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impl_integer_ops_char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add_one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num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u32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+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C792EA"/>
                </a:solidFill>
                <a:latin typeface="Consolas"/>
              </a:rPr>
              <a:t>if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num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0xD800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    </a:t>
            </a:r>
            <a:r>
              <a:rPr sz="1600">
                <a:solidFill>
                  <a:srgbClr val="EEFFFF"/>
                </a:solidFill>
                <a:latin typeface="Consolas"/>
              </a:rPr>
              <a:t>num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0xE000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C792EA"/>
                </a:solidFill>
                <a:latin typeface="Consolas"/>
              </a:rPr>
              <a:t>char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from_u32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num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unwrap_or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char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MIN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min_value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C792EA"/>
                </a:solidFill>
                <a:latin typeface="Consolas"/>
              </a:rPr>
              <a:t>char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MIN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max_value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C792EA"/>
                </a:solidFill>
                <a:latin typeface="Consolas"/>
              </a:rPr>
              <a:t>char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MAX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i8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i8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u8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u8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i16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i16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u16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u16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i32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i32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u32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u32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i64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i64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u64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u64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i128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i128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u128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u128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isize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isize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usize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usize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Ipv4Addr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impl_integer_ops_ip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Ipv4Addr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u32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Ipv6Addr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impl_integer_ops_ip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Ipv6Addr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u128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char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impl_integer_ops_char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Can't use num_traits::PrimInt as a 'subclass'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because Rust worries that 'char' etc. might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be added to it later (coherence).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TECHNIQUE NAME: macro-generated implementation.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main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x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u8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254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x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add_one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255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3E88D"/>
                </a:solidFill>
                <a:latin typeface="Consolas"/>
              </a:rPr>
              <a:t>'a'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add_one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3E88D"/>
                </a:solidFill>
                <a:latin typeface="Consolas"/>
              </a:rPr>
              <a:t>'b'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char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min_value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char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MIN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char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max_value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char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MAX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Ipv4Addr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min_value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Ipv4Addr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F78C6C"/>
                </a:solidFill>
                <a:latin typeface="Consolas"/>
              </a:rPr>
              <a:t>0</a:t>
            </a:r>
            <a:r>
              <a:rPr sz="1600">
                <a:solidFill>
                  <a:srgbClr val="C792EA"/>
                </a:solidFill>
                <a:latin typeface="Consolas"/>
              </a:rPr>
              <a:t>u32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Ipv4Addr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max_value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Ipv4Addr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u32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MAX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43800" y="0"/>
            <a:ext cx="1600200" cy="685800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7616952" y="274320"/>
            <a:ext cx="1453896" cy="6309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>
                <a:solidFill>
                  <a:srgbClr val="141414"/>
                </a:solidFill>
                <a:latin typeface="Aptos"/>
              </a:defRPr>
            </a:pPr>
            <a:r>
              <a:t>Puzzle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6446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6E6E6"/>
                </a:solidFill>
                <a:latin typeface="Aptos"/>
              </a:rPr>
              <a:t>We have an </a:t>
            </a:r>
            <a:r>
              <a:rPr sz="1600">
                <a:solidFill>
                  <a:srgbClr val="FFFFFF"/>
                </a:solidFill>
                <a:latin typeface="Consolas"/>
              </a:rPr>
              <a:t>OutputArray&lt;N&gt;</a:t>
            </a:r>
            <a:r>
              <a:rPr sz="1600">
                <a:solidFill>
                  <a:srgbClr val="E6E6E6"/>
                </a:solidFill>
                <a:latin typeface="Aptos"/>
              </a:rPr>
              <a:t> superclass with two methods. For </a:t>
            </a:r>
            <a:r>
              <a:rPr sz="1600">
                <a:solidFill>
                  <a:srgbClr val="FFFFFF"/>
                </a:solidFill>
                <a:latin typeface="Consolas"/>
              </a:rPr>
              <a:t>N = 8</a:t>
            </a:r>
            <a:r>
              <a:rPr sz="1600">
                <a:solidFill>
                  <a:srgbClr val="E6E6E6"/>
                </a:solidFill>
                <a:latin typeface="Aptos"/>
              </a:rPr>
              <a:t>, however, we want one extra method because it maps cleanly to a </a:t>
            </a:r>
            <a:r>
              <a:rPr sz="1600">
                <a:solidFill>
                  <a:srgbClr val="FFFFFF"/>
                </a:solidFill>
                <a:latin typeface="Consolas"/>
              </a:rPr>
              <a:t>u8</a:t>
            </a:r>
            <a:r>
              <a:rPr sz="1600">
                <a:solidFill>
                  <a:srgbClr val="E6E6E6"/>
                </a:solidFill>
                <a:latin typeface="Aptos"/>
              </a:rPr>
              <a:t> bitmask.</a:t>
            </a:r>
          </a:p>
        </p:txBody>
      </p:sp>
      <p:pic>
        <p:nvPicPr>
          <p:cNvPr id="6" name="Picture 5" descr="8_puzzle_diagram.png"/>
          <p:cNvPicPr>
            <a:picLocks noChangeAspect="1"/>
          </p:cNvPicPr>
          <p:nvPr/>
        </p:nvPicPr>
        <p:blipFill>
          <a:blip r:embed="R3273105e43204bf9"/>
          <a:stretch>
            <a:fillRect/>
          </a:stretch>
        </p:blipFill>
        <p:spPr>
          <a:xfrm>
            <a:off x="274319" y="1691640"/>
            <a:ext cx="6995160" cy="389908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#[</a:t>
            </a:r>
            <a:r>
              <a:rPr sz="1600">
                <a:solidFill>
                  <a:srgbClr val="6A9955"/>
                </a:solidFill>
                <a:latin typeface="Consolas"/>
              </a:rPr>
              <a:t>derive(Debug, Clone, Copy)</a:t>
            </a:r>
            <a:r>
              <a:rPr sz="1600">
                <a:solidFill>
                  <a:srgbClr val="6A9955"/>
                </a:solidFill>
                <a:latin typeface="Consolas"/>
              </a:rPr>
              <a:t>]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struct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OutputArray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C792EA"/>
                </a:solidFill>
                <a:latin typeface="Consolas"/>
              </a:rPr>
              <a:t>const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N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usize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levels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C792EA"/>
                </a:solidFill>
                <a:latin typeface="Consolas"/>
              </a:rPr>
              <a:t>bool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N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C792EA"/>
                </a:solidFill>
                <a:latin typeface="Consolas"/>
              </a:rPr>
              <a:t>const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N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usize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OutputArray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EEFFFF"/>
                </a:solidFill>
                <a:latin typeface="Consolas"/>
              </a:rPr>
              <a:t>N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new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levels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C792EA"/>
                </a:solidFill>
                <a:latin typeface="Consolas"/>
              </a:rPr>
              <a:t>false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N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set_level_at_index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index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usize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level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bool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levels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EEFFFF"/>
                </a:solidFill>
                <a:latin typeface="Consolas"/>
              </a:rPr>
              <a:t>index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level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Hardcoded 8, matching the bit width expected by a u8 mask.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OutputArray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F78C6C"/>
                </a:solidFill>
                <a:latin typeface="Consolas"/>
              </a:rPr>
              <a:t>8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set_from_bits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bits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u8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slot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in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levels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89DDFF"/>
                </a:solidFill>
                <a:latin typeface="Consolas"/>
              </a:rPr>
              <a:t>*</a:t>
            </a:r>
            <a:r>
              <a:rPr sz="1600">
                <a:solidFill>
                  <a:srgbClr val="EEFFFF"/>
                </a:solidFill>
                <a:latin typeface="Consolas"/>
              </a:rPr>
              <a:t>slot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bits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EEFFFF"/>
                </a:solidFill>
                <a:latin typeface="Consolas"/>
              </a:rPr>
              <a:t>bits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TECHNIQUE NAME: constraint-gated methods.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- Methods that only exist when certain constraints are met.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main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any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OutputArray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F78C6C"/>
                </a:solidFill>
                <a:latin typeface="Consolas"/>
              </a:rPr>
              <a:t>4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new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any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set_level_at_index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F78C6C"/>
                </a:solidFill>
                <a:latin typeface="Consolas"/>
              </a:rPr>
              <a:t>2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true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eight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OutputArray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F78C6C"/>
                </a:solidFill>
                <a:latin typeface="Consolas"/>
              </a:rPr>
              <a:t>8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new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eight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set_from_bits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F78C6C"/>
                </a:solidFill>
                <a:latin typeface="Consolas"/>
              </a:rPr>
              <a:t>0b1011_0001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any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levels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C792EA"/>
                </a:solidFill>
                <a:latin typeface="Consolas"/>
              </a:rPr>
              <a:t>false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false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true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false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eight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levels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C792EA"/>
                </a:solidFill>
                <a:latin typeface="Consolas"/>
              </a:rPr>
              <a:t>true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false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false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false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true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true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false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true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43800" y="0"/>
            <a:ext cx="1600200" cy="685800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7616952" y="274320"/>
            <a:ext cx="1453896" cy="6309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>
                <a:solidFill>
                  <a:srgbClr val="141414"/>
                </a:solidFill>
                <a:latin typeface="Aptos"/>
              </a:defRPr>
            </a:pPr>
            <a:r>
              <a:t>Puzzle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6446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6E6E6"/>
                </a:solidFill>
                <a:latin typeface="Aptos"/>
              </a:rPr>
              <a:t>We want two levels of </a:t>
            </a:r>
            <a:r>
              <a:rPr sz="1600">
                <a:solidFill>
                  <a:srgbClr val="FFFFFF"/>
                </a:solidFill>
                <a:latin typeface="Consolas"/>
              </a:rPr>
              <a:t>FlashBlock</a:t>
            </a:r>
            <a:r>
              <a:rPr sz="1600">
                <a:solidFill>
                  <a:srgbClr val="E6E6E6"/>
                </a:solidFill>
                <a:latin typeface="Aptos"/>
              </a:rPr>
              <a:t>: a base level with </a:t>
            </a:r>
            <a:r>
              <a:rPr sz="1600">
                <a:solidFill>
                  <a:srgbClr val="FFFFFF"/>
                </a:solidFill>
                <a:latin typeface="Consolas"/>
              </a:rPr>
              <a:t>new</a:t>
            </a:r>
            <a:r>
              <a:rPr sz="1600">
                <a:solidFill>
                  <a:srgbClr val="E6E6E6"/>
                </a:solidFill>
                <a:latin typeface="Aptos"/>
              </a:rPr>
              <a:t> and </a:t>
            </a:r>
            <a:r>
              <a:rPr sz="1600">
                <a:solidFill>
                  <a:srgbClr val="FFFFFF"/>
                </a:solidFill>
                <a:latin typeface="Consolas"/>
              </a:rPr>
              <a:t>clear</a:t>
            </a:r>
            <a:r>
              <a:rPr sz="1600">
                <a:solidFill>
                  <a:srgbClr val="E6E6E6"/>
                </a:solidFill>
                <a:latin typeface="Aptos"/>
              </a:rPr>
              <a:t>, and a constrained level that adds </a:t>
            </a:r>
            <a:r>
              <a:rPr sz="1600">
                <a:solidFill>
                  <a:srgbClr val="FFFFFF"/>
                </a:solidFill>
                <a:latin typeface="Consolas"/>
              </a:rPr>
              <a:t>save</a:t>
            </a:r>
            <a:r>
              <a:rPr sz="1600">
                <a:solidFill>
                  <a:srgbClr val="E6E6E6"/>
                </a:solidFill>
                <a:latin typeface="Aptos"/>
              </a:rPr>
              <a:t> and </a:t>
            </a:r>
            <a:r>
              <a:rPr sz="1600">
                <a:solidFill>
                  <a:srgbClr val="FFFFFF"/>
                </a:solidFill>
                <a:latin typeface="Consolas"/>
              </a:rPr>
              <a:t>load</a:t>
            </a:r>
            <a:r>
              <a:rPr sz="1600">
                <a:solidFill>
                  <a:srgbClr val="E6E6E6"/>
                </a:solidFill>
                <a:latin typeface="Aptos"/>
              </a:rPr>
              <a:t> only when </a:t>
            </a:r>
            <a:r>
              <a:rPr sz="1600">
                <a:solidFill>
                  <a:srgbClr val="FFFFFF"/>
                </a:solidFill>
                <a:latin typeface="Consolas"/>
              </a:rPr>
              <a:t>T</a:t>
            </a:r>
            <a:r>
              <a:rPr sz="1600">
                <a:solidFill>
                  <a:srgbClr val="E6E6E6"/>
                </a:solidFill>
                <a:latin typeface="Aptos"/>
              </a:rPr>
              <a:t> satisfies both serialization and deserialization capabilities.</a:t>
            </a:r>
          </a:p>
        </p:txBody>
      </p:sp>
      <p:pic>
        <p:nvPicPr>
          <p:cNvPr id="6" name="Picture 5" descr="9_puzzle_diagram.png"/>
          <p:cNvPicPr>
            <a:picLocks noChangeAspect="1"/>
          </p:cNvPicPr>
          <p:nvPr/>
        </p:nvPicPr>
        <p:blipFill>
          <a:blip r:embed="R773597f3a78746db"/>
          <a:stretch>
            <a:fillRect/>
          </a:stretch>
        </p:blipFill>
        <p:spPr>
          <a:xfrm>
            <a:off x="274319" y="1691640"/>
            <a:ext cx="6995160" cy="468916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use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std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collections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HashMap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use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serde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de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DeserializeOwned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use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serde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Deserialize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Serialize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#[</a:t>
            </a:r>
            <a:r>
              <a:rPr sz="1600">
                <a:solidFill>
                  <a:srgbClr val="6A9955"/>
                </a:solidFill>
                <a:latin typeface="Consolas"/>
              </a:rPr>
              <a:t>derive(Debug, Clone, Serialize, Deserialize, PartialEq, Eq)</a:t>
            </a:r>
            <a:r>
              <a:rPr sz="1600">
                <a:solidFill>
                  <a:srgbClr val="6A9955"/>
                </a:solidFill>
                <a:latin typeface="Consolas"/>
              </a:rPr>
              <a:t>]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struct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WifiCredentials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ssid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String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password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String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3E88D"/>
                </a:solidFill>
                <a:latin typeface="Consolas"/>
              </a:rPr>
              <a:t>/// Key point: method-level gating.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3E88D"/>
                </a:solidFill>
                <a:latin typeface="Consolas"/>
              </a:rPr>
              <a:t>/// - The type exists for all use-cases.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3E88D"/>
                </a:solidFill>
                <a:latin typeface="Consolas"/>
              </a:rPr>
              <a:t>/// - Only `save/load&lt;T&gt;` require extra capabilities on `T`.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#[</a:t>
            </a:r>
            <a:r>
              <a:rPr sz="1600">
                <a:solidFill>
                  <a:srgbClr val="6A9955"/>
                </a:solidFill>
                <a:latin typeface="Consolas"/>
              </a:rPr>
              <a:t>derive(Default)</a:t>
            </a:r>
            <a:r>
              <a:rPr sz="1600">
                <a:solidFill>
                  <a:srgbClr val="6A9955"/>
                </a:solidFill>
                <a:latin typeface="Consolas"/>
              </a:rPr>
              <a:t>]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struct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FlashBlock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store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HashMap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89DDFF"/>
                </a:solidFill>
                <a:latin typeface="Consolas"/>
              </a:rPr>
              <a:t>String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Vec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C792EA"/>
                </a:solidFill>
                <a:latin typeface="Consolas"/>
              </a:rPr>
              <a:t>u8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FlashBlock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new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default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clear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store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clear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save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EEFFFF"/>
                </a:solidFill>
                <a:latin typeface="Consolas"/>
              </a:rPr>
              <a:t>T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key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&amp;</a:t>
            </a:r>
            <a:r>
              <a:rPr sz="1600">
                <a:solidFill>
                  <a:srgbClr val="C792EA"/>
                </a:solidFill>
                <a:latin typeface="Consolas"/>
              </a:rPr>
              <a:t>str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value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&amp;</a:t>
            </a:r>
            <a:r>
              <a:rPr sz="1600">
                <a:solidFill>
                  <a:srgbClr val="FFCB6B"/>
                </a:solidFill>
                <a:latin typeface="Consolas"/>
              </a:rPr>
              <a:t>T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Result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postcard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Error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where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EEFFFF"/>
                </a:solidFill>
                <a:latin typeface="Consolas"/>
              </a:rPr>
              <a:t>T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Serialize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+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DeserializeOwned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bytes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postcard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to_stdvec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value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89DDFF"/>
                </a:solidFill>
                <a:latin typeface="Consolas"/>
              </a:rPr>
              <a:t>?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store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insert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key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to_string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bytes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Ok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load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EEFFFF"/>
                </a:solidFill>
                <a:latin typeface="Consolas"/>
              </a:rPr>
              <a:t>T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key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&amp;</a:t>
            </a:r>
            <a:r>
              <a:rPr sz="1600">
                <a:solidFill>
                  <a:srgbClr val="C792EA"/>
                </a:solidFill>
                <a:latin typeface="Consolas"/>
              </a:rPr>
              <a:t>str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Option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EEFFFF"/>
                </a:solidFill>
                <a:latin typeface="Consolas"/>
              </a:rPr>
              <a:t>T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where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EEFFFF"/>
                </a:solidFill>
                <a:latin typeface="Consolas"/>
              </a:rPr>
              <a:t>T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Serialize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+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DeserializeOwned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bytes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store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get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key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89DDFF"/>
                </a:solidFill>
                <a:latin typeface="Consolas"/>
              </a:rPr>
              <a:t>?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EEFFFF"/>
                </a:solidFill>
                <a:latin typeface="Consolas"/>
              </a:rPr>
              <a:t>postcard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from_bytes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bytes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ok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TECHNIQUE NAME: method-level gating.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main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Result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postcard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Error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flash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FlashBlock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new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credentials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WifiCredentials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EEFFFF"/>
                </a:solidFill>
                <a:latin typeface="Consolas"/>
              </a:rPr>
              <a:t>ssid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HomeWiFi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to_string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EEFFFF"/>
                </a:solidFill>
                <a:latin typeface="Consolas"/>
              </a:rPr>
              <a:t>password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secret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to_string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Works: WifiCredentials satisfies Serialize + Deserialize.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flash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save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wifi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credentials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89DDFF"/>
                </a:solidFill>
                <a:latin typeface="Consolas"/>
              </a:rPr>
              <a:t>?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loaded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Option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EEFFFF"/>
                </a:solidFill>
                <a:latin typeface="Consolas"/>
              </a:rPr>
              <a:t>WifiCredentials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flash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load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wifi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loaded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loaded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unwrap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loaded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ssid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HomeWiFi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loaded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password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secret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flash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clear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flash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load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EEFFFF"/>
                </a:solidFill>
                <a:latin typeface="Consolas"/>
              </a:rPr>
              <a:t>WifiCredentials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wifi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is_none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9DDFF"/>
                </a:solidFill>
                <a:latin typeface="Consolas"/>
              </a:rPr>
              <a:t>Ok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TECHNIQUE NAMES (Examples 1-9):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1. Trait Default Methods      -- interface defines default implementation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2. Supertrait Default Methods -- #1 but with more levels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3. Extension Traits           -- add methods to one or few foreign types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4. Derive-Generated Implementations -- #[derive(Clone, Debug, etc.)]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5. Deref Method Lookup        -- add methods to concrete types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6. Blanket Implementation     -- add methods to all (foreign) types that satisfy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7. Macro-Generated Implementation Reuse -- when #2 doesn't work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8. Constraint-Gated Methods   -- e.g. when N=8, add a method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9. Method-Level Constraints   -- e.g. method defined when T: Serialize + Deserialize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43800" y="0"/>
            <a:ext cx="1600200" cy="685800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 rot="16200000">
            <a:off x="7616952" y="274320"/>
            <a:ext cx="1453896" cy="6309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>
                <a:solidFill>
                  <a:srgbClr val="141414"/>
                </a:solidFill>
                <a:latin typeface="Aptos"/>
              </a:defRPr>
            </a:pPr>
            <a:r>
              <a:t>Puzzle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6446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E6E6E6"/>
                </a:solidFill>
                <a:latin typeface="Aptos"/>
              </a:rPr>
              <a:t>Intro</a:t>
            </a:r>
            <a:endParaRPr sz="1600" dirty="0">
              <a:solidFill>
                <a:srgbClr val="E6E6E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BAC2DE"/>
                </a:solidFill>
                <a:latin typeface="Consolas"/>
              </a:rPr>
              <a:t>outro2</a:t>
            </a:r>
            <a:endParaRPr sz="1600" dirty="0">
              <a:solidFill>
                <a:srgbClr val="BAC2DE"/>
              </a:solidFill>
              <a:latin typeface="Consolas"/>
            </a:endParaRP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Office PowerPoint</Application>
  <PresentationFormat>On-screen Show (4:3)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Carl K</dc:creator>
  <cp:keywords/>
  <dc:description>generated using python-pptx</dc:description>
  <cp:lastModifiedBy>Carl K</cp:lastModifiedBy>
  <cp:revision>2</cp:revision>
  <dcterms:created xsi:type="dcterms:W3CDTF">2013-01-27T09:14:16Z</dcterms:created>
  <dcterms:modified xsi:type="dcterms:W3CDTF">2026-05-19T13:50:02Z</dcterms:modified>
  <cp:category/>
</cp:coreProperties>
</file>