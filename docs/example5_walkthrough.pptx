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7616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446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Treat 15 integer-like types uniformly: </a:t>
            </a:r>
            <a:r>
              <a:rPr sz="1600">
                <a:solidFill>
                  <a:srgbClr val="FFFFFF"/>
                </a:solidFill>
                <a:latin typeface="Consolas"/>
              </a:rPr>
              <a:t>u8</a:t>
            </a:r>
            <a:r>
              <a:rPr sz="1600">
                <a:solidFill>
                  <a:srgbClr val="E6E6E6"/>
                </a:solidFill>
                <a:latin typeface="Aptos"/>
              </a:rPr>
              <a:t>, ..., </a:t>
            </a:r>
            <a:r>
              <a:rPr sz="1600">
                <a:solidFill>
                  <a:srgbClr val="FFFFFF"/>
                </a:solidFill>
                <a:latin typeface="Consolas"/>
              </a:rPr>
              <a:t>usize</a:t>
            </a:r>
            <a:r>
              <a:rPr sz="1600">
                <a:solidFill>
                  <a:srgbClr val="E6E6E6"/>
                </a:solidFill>
                <a:latin typeface="Aptos"/>
              </a:rPr>
              <a:t>, ...</a:t>
            </a:r>
            <a:r>
              <a:rPr sz="1600">
                <a:solidFill>
                  <a:srgbClr val="FFFFFF"/>
                </a:solidFill>
                <a:latin typeface="Consolas"/>
              </a:rPr>
              <a:t>i128</a:t>
            </a:r>
            <a:r>
              <a:rPr sz="1600">
                <a:solidFill>
                  <a:srgbClr val="E6E6E6"/>
                </a:solidFill>
                <a:latin typeface="Aptos"/>
              </a:rPr>
              <a:t>, </a:t>
            </a:r>
            <a:r>
              <a:rPr sz="1600">
                <a:solidFill>
                  <a:srgbClr val="FFFFFF"/>
                </a:solidFill>
                <a:latin typeface="Consolas"/>
              </a:rPr>
              <a:t>char</a:t>
            </a:r>
            <a:r>
              <a:rPr sz="1600">
                <a:solidFill>
                  <a:srgbClr val="E6E6E6"/>
                </a:solidFill>
                <a:latin typeface="Aptos"/>
              </a:rPr>
              <a:t>, </a:t>
            </a:r>
            <a:r>
              <a:rPr sz="1600">
                <a:solidFill>
                  <a:srgbClr val="FFFFFF"/>
                </a:solidFill>
                <a:latin typeface="Consolas"/>
              </a:rPr>
              <a:t>IPv4</a:t>
            </a:r>
            <a:r>
              <a:rPr sz="1600">
                <a:solidFill>
                  <a:srgbClr val="E6E6E6"/>
                </a:solidFill>
                <a:latin typeface="Aptos"/>
              </a:rPr>
              <a:t>, </a:t>
            </a:r>
            <a:r>
              <a:rPr sz="1600">
                <a:solidFill>
                  <a:srgbClr val="FFFFFF"/>
                </a:solidFill>
                <a:latin typeface="Consolas"/>
              </a:rPr>
              <a:t>IPv6</a:t>
            </a:r>
            <a:r>
              <a:rPr sz="1600">
                <a:solidFill>
                  <a:srgbClr val="E6E6E6"/>
                </a:solidFill>
                <a:latin typeface="Aptos"/>
              </a:rPr>
              <a:t> For example, with a </a:t>
            </a:r>
            <a:r>
              <a:rPr sz="1600">
                <a:solidFill>
                  <a:srgbClr val="FFFFFF"/>
                </a:solidFill>
                <a:latin typeface="Consolas"/>
              </a:rPr>
              <a:t>min</a:t>
            </a:r>
            <a:r>
              <a:rPr sz="1600">
                <a:solidFill>
                  <a:srgbClr val="E6E6E6"/>
                </a:solidFill>
                <a:latin typeface="Aptos"/>
              </a:rPr>
              <a:t>, </a:t>
            </a:r>
            <a:r>
              <a:rPr sz="1600">
                <a:solidFill>
                  <a:srgbClr val="FFFFFF"/>
                </a:solidFill>
                <a:latin typeface="Consolas"/>
              </a:rPr>
              <a:t>max</a:t>
            </a:r>
            <a:r>
              <a:rPr sz="1600">
                <a:solidFill>
                  <a:srgbClr val="E6E6E6"/>
                </a:solidFill>
                <a:latin typeface="Aptos"/>
              </a:rPr>
              <a:t>, and ability to add one (unchecked).</a:t>
            </a:r>
          </a:p>
        </p:txBody>
      </p:sp>
      <p:pic>
        <p:nvPicPr>
          <p:cNvPr id="6" name="Picture 5" descr="5_puzzl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6" y="1691640"/>
            <a:ext cx="658494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std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net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Ipv6Addr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trait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Copy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+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Ord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add_one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2AAFF"/>
                </a:solidFill>
                <a:latin typeface="Consolas"/>
              </a:rPr>
              <a:t>macro_rules!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6A9955"/>
                </a:solidFill>
                <a:latin typeface="Consolas"/>
              </a:rPr>
              <a:t>$t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FFCB6B"/>
                </a:solidFill>
                <a:latin typeface="Consolas"/>
              </a:rPr>
              <a:t>ty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add_one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+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$t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$t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2AAFF"/>
                </a:solidFill>
                <a:latin typeface="Consolas"/>
              </a:rPr>
              <a:t>macro_rules!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impl_integer_ops_ip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6A9955"/>
                </a:solidFill>
                <a:latin typeface="Consolas"/>
              </a:rPr>
              <a:t>$ip_type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FFCB6B"/>
                </a:solidFill>
                <a:latin typeface="Consolas"/>
              </a:rPr>
              <a:t>ty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6A9955"/>
                </a:solidFill>
                <a:latin typeface="Consolas"/>
              </a:rPr>
              <a:t>$representation_type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FFCB6B"/>
                </a:solidFill>
                <a:latin typeface="Consolas"/>
              </a:rPr>
              <a:t>ty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add_one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$ip_type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$representation_type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wrapping_add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$ip_type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$representation_type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$ip_type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$representation_type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2AAFF"/>
                </a:solidFill>
                <a:latin typeface="Consolas"/>
              </a:rPr>
              <a:t>macro_rules!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impl_integer_ops_char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add_one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num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u32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+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C792EA"/>
                </a:solidFill>
                <a:latin typeface="Consolas"/>
              </a:rPr>
              <a:t>if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num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0xD800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num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0xE000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from_u32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num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unwrap_or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i8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i8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i16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i16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u16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u16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i32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i32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u32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u32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i64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i64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u64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u64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i128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i128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u128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u128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isize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isize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impl_integer_ops_ip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u32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Ipv6Addr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impl_integer_ops_ip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Ipv6Addr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u128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impl_integer_ops_char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Can't use num_traits::PrimInt as a 'subclass'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because Rust worries that 'char' etc. might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be added to it later (coherence).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macro-generated implementation.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x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254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x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add_one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255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'a'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add_one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'b'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0</a:t>
            </a:r>
            <a:r>
              <a:rPr sz="1600">
                <a:solidFill>
                  <a:srgbClr val="C792EA"/>
                </a:solidFill>
                <a:latin typeface="Consolas"/>
              </a:rPr>
              <a:t>u32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u32</a:t>
            </a:r>
            <a:r>
              <a:rPr sz="1600">
                <a:solidFill>
                  <a:srgbClr val="EEFFFF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