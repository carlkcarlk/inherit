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543800" y="0"/>
            <a:ext cx="1600200" cy="6858000"/>
          </a:xfrm>
          <a:prstGeom prst="rect">
            <a:avLst/>
          </a:prstGeom>
          <a:solidFill>
            <a:srgbClr val="FAFAFA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 rot="16200000">
            <a:off x="7616952" y="274320"/>
            <a:ext cx="1453896" cy="6309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600">
                <a:solidFill>
                  <a:srgbClr val="141414"/>
                </a:solidFill>
                <a:latin typeface="Aptos"/>
              </a:defRPr>
            </a:pPr>
            <a:r>
              <a:t>Puzzle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64465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E6E6E6"/>
                </a:solidFill>
                <a:latin typeface="Aptos"/>
              </a:rPr>
              <a:t>We have an </a:t>
            </a:r>
            <a:r>
              <a:rPr sz="1600">
                <a:solidFill>
                  <a:srgbClr val="FFFFFF"/>
                </a:solidFill>
                <a:latin typeface="Consolas"/>
              </a:rPr>
              <a:t>OutputArray&lt;N&gt;</a:t>
            </a:r>
            <a:r>
              <a:rPr sz="1600">
                <a:solidFill>
                  <a:srgbClr val="E6E6E6"/>
                </a:solidFill>
                <a:latin typeface="Aptos"/>
              </a:rPr>
              <a:t> superclass with two methods. For </a:t>
            </a:r>
            <a:r>
              <a:rPr sz="1600">
                <a:solidFill>
                  <a:srgbClr val="FFFFFF"/>
                </a:solidFill>
                <a:latin typeface="Consolas"/>
              </a:rPr>
              <a:t>N = 8</a:t>
            </a:r>
            <a:r>
              <a:rPr sz="1600">
                <a:solidFill>
                  <a:srgbClr val="E6E6E6"/>
                </a:solidFill>
                <a:latin typeface="Aptos"/>
              </a:rPr>
              <a:t>, however, we want one extra method because it maps cleanly to a </a:t>
            </a:r>
            <a:r>
              <a:rPr sz="1600">
                <a:solidFill>
                  <a:srgbClr val="FFFFFF"/>
                </a:solidFill>
                <a:latin typeface="Consolas"/>
              </a:rPr>
              <a:t>u8</a:t>
            </a:r>
            <a:r>
              <a:rPr sz="1600">
                <a:solidFill>
                  <a:srgbClr val="E6E6E6"/>
                </a:solidFill>
                <a:latin typeface="Aptos"/>
              </a:rPr>
              <a:t> bitmask.</a:t>
            </a:r>
          </a:p>
        </p:txBody>
      </p:sp>
      <p:pic>
        <p:nvPicPr>
          <p:cNvPr id="6" name="Picture 5" descr="8_puzzl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19" y="1691640"/>
            <a:ext cx="6995160" cy="389908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" y="109728"/>
            <a:ext cx="8814816" cy="66385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#[</a:t>
            </a:r>
            <a:r>
              <a:rPr sz="1600">
                <a:solidFill>
                  <a:srgbClr val="6A9955"/>
                </a:solidFill>
                <a:latin typeface="Consolas"/>
              </a:rPr>
              <a:t>derive(Debug, Clone, Copy)</a:t>
            </a:r>
            <a:r>
              <a:rPr sz="1600">
                <a:solidFill>
                  <a:srgbClr val="6A9955"/>
                </a:solidFill>
                <a:latin typeface="Consolas"/>
              </a:rPr>
              <a:t>]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struct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FCB6B"/>
                </a:solidFill>
                <a:latin typeface="Consolas"/>
              </a:rPr>
              <a:t>OutputArray</a:t>
            </a:r>
            <a:r>
              <a:rPr sz="1600">
                <a:solidFill>
                  <a:srgbClr val="89DDFF"/>
                </a:solidFill>
                <a:latin typeface="Consolas"/>
              </a:rPr>
              <a:t>&lt;</a:t>
            </a:r>
            <a:r>
              <a:rPr sz="1600">
                <a:solidFill>
                  <a:srgbClr val="C792EA"/>
                </a:solidFill>
                <a:latin typeface="Consolas"/>
              </a:rPr>
              <a:t>const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N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usize</a:t>
            </a:r>
            <a:r>
              <a:rPr sz="1600">
                <a:solidFill>
                  <a:srgbClr val="89DDFF"/>
                </a:solidFill>
                <a:latin typeface="Consolas"/>
              </a:rPr>
              <a:t>&gt;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EEFFFF"/>
                </a:solidFill>
                <a:latin typeface="Consolas"/>
              </a:rPr>
              <a:t>levels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[</a:t>
            </a:r>
            <a:r>
              <a:rPr sz="1600">
                <a:solidFill>
                  <a:srgbClr val="C792EA"/>
                </a:solidFill>
                <a:latin typeface="Consolas"/>
              </a:rPr>
              <a:t>bool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N</a:t>
            </a:r>
            <a:r>
              <a:rPr sz="1600">
                <a:solidFill>
                  <a:srgbClr val="BAC2DE"/>
                </a:solidFill>
                <a:latin typeface="Consolas"/>
              </a:rPr>
              <a:t>]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impl</a:t>
            </a:r>
            <a:r>
              <a:rPr sz="1600">
                <a:solidFill>
                  <a:srgbClr val="89DDFF"/>
                </a:solidFill>
                <a:latin typeface="Consolas"/>
              </a:rPr>
              <a:t>&lt;</a:t>
            </a:r>
            <a:r>
              <a:rPr sz="1600">
                <a:solidFill>
                  <a:srgbClr val="C792EA"/>
                </a:solidFill>
                <a:latin typeface="Consolas"/>
              </a:rPr>
              <a:t>const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N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usize</a:t>
            </a:r>
            <a:r>
              <a:rPr sz="1600">
                <a:solidFill>
                  <a:srgbClr val="89DDFF"/>
                </a:solidFill>
                <a:latin typeface="Consolas"/>
              </a:rPr>
              <a:t>&gt;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OutputArray</a:t>
            </a:r>
            <a:r>
              <a:rPr sz="1600">
                <a:solidFill>
                  <a:srgbClr val="89DDFF"/>
                </a:solidFill>
                <a:latin typeface="Consolas"/>
              </a:rPr>
              <a:t>&lt;</a:t>
            </a:r>
            <a:r>
              <a:rPr sz="1600">
                <a:solidFill>
                  <a:srgbClr val="EEFFFF"/>
                </a:solidFill>
                <a:latin typeface="Consolas"/>
              </a:rPr>
              <a:t>N</a:t>
            </a:r>
            <a:r>
              <a:rPr sz="1600">
                <a:solidFill>
                  <a:srgbClr val="89DDFF"/>
                </a:solidFill>
                <a:latin typeface="Consolas"/>
              </a:rPr>
              <a:t>&gt;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new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-&gt;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FCB6B"/>
                </a:solidFill>
                <a:latin typeface="Consolas"/>
              </a:rPr>
              <a:t>Self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89DDFF"/>
                </a:solidFill>
                <a:latin typeface="Consolas"/>
              </a:rPr>
              <a:t>Self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levels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[</a:t>
            </a:r>
            <a:r>
              <a:rPr sz="1600">
                <a:solidFill>
                  <a:srgbClr val="C792EA"/>
                </a:solidFill>
                <a:latin typeface="Consolas"/>
              </a:rPr>
              <a:t>false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N</a:t>
            </a:r>
            <a:r>
              <a:rPr sz="1600">
                <a:solidFill>
                  <a:srgbClr val="BAC2DE"/>
                </a:solidFill>
                <a:latin typeface="Consolas"/>
              </a:rPr>
              <a:t>]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set_level_at_index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89DDFF"/>
                </a:solidFill>
                <a:latin typeface="Consolas"/>
              </a:rPr>
              <a:t>&amp;</a:t>
            </a:r>
            <a:r>
              <a:rPr sz="1600">
                <a:solidFill>
                  <a:srgbClr val="C792EA"/>
                </a:solidFill>
                <a:latin typeface="Consolas"/>
              </a:rPr>
              <a:t>mut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self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index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usize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level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bool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89DDFF"/>
                </a:solidFill>
                <a:latin typeface="Consolas"/>
              </a:rPr>
              <a:t>self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EEFFFF"/>
                </a:solidFill>
                <a:latin typeface="Consolas"/>
              </a:rPr>
              <a:t>levels</a:t>
            </a:r>
            <a:r>
              <a:rPr sz="1600">
                <a:solidFill>
                  <a:srgbClr val="BAC2DE"/>
                </a:solidFill>
                <a:latin typeface="Consolas"/>
              </a:rPr>
              <a:t>[</a:t>
            </a:r>
            <a:r>
              <a:rPr sz="1600">
                <a:solidFill>
                  <a:srgbClr val="EEFFFF"/>
                </a:solidFill>
                <a:latin typeface="Consolas"/>
              </a:rPr>
              <a:t>index</a:t>
            </a:r>
            <a:r>
              <a:rPr sz="1600">
                <a:solidFill>
                  <a:srgbClr val="BAC2DE"/>
                </a:solidFill>
                <a:latin typeface="Consolas"/>
              </a:rPr>
              <a:t>]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=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level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Hardcoded 8, matching the bit width expected by a u8 mask.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impl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OutputArray</a:t>
            </a:r>
            <a:r>
              <a:rPr sz="1600">
                <a:solidFill>
                  <a:srgbClr val="89DDFF"/>
                </a:solidFill>
                <a:latin typeface="Consolas"/>
              </a:rPr>
              <a:t>&lt;</a:t>
            </a:r>
            <a:r>
              <a:rPr sz="1600">
                <a:solidFill>
                  <a:srgbClr val="F78C6C"/>
                </a:solidFill>
                <a:latin typeface="Consolas"/>
              </a:rPr>
              <a:t>8</a:t>
            </a:r>
            <a:r>
              <a:rPr sz="1600">
                <a:solidFill>
                  <a:srgbClr val="89DDFF"/>
                </a:solidFill>
                <a:latin typeface="Consolas"/>
              </a:rPr>
              <a:t>&gt;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set_from_bits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89DDFF"/>
                </a:solidFill>
                <a:latin typeface="Consolas"/>
              </a:rPr>
              <a:t>&amp;</a:t>
            </a:r>
            <a:r>
              <a:rPr sz="1600">
                <a:solidFill>
                  <a:srgbClr val="C792EA"/>
                </a:solidFill>
                <a:latin typeface="Consolas"/>
              </a:rPr>
              <a:t>mut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self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mut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bits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u8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C792EA"/>
                </a:solidFill>
                <a:latin typeface="Consolas"/>
              </a:rPr>
              <a:t>for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slot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in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&amp;</a:t>
            </a:r>
            <a:r>
              <a:rPr sz="1600">
                <a:solidFill>
                  <a:srgbClr val="C792EA"/>
                </a:solidFill>
                <a:latin typeface="Consolas"/>
              </a:rPr>
              <a:t>mut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self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EEFFFF"/>
                </a:solidFill>
                <a:latin typeface="Consolas"/>
              </a:rPr>
              <a:t>levels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    </a:t>
            </a:r>
            <a:r>
              <a:rPr sz="1600">
                <a:solidFill>
                  <a:srgbClr val="89DDFF"/>
                </a:solidFill>
                <a:latin typeface="Consolas"/>
              </a:rPr>
              <a:t>*</a:t>
            </a:r>
            <a:r>
              <a:rPr sz="1600">
                <a:solidFill>
                  <a:srgbClr val="EEFFFF"/>
                </a:solidFill>
                <a:latin typeface="Consolas"/>
              </a:rPr>
              <a:t>slot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=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EEFFFF"/>
                </a:solidFill>
                <a:latin typeface="Consolas"/>
              </a:rPr>
              <a:t>bits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&amp;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78C6C"/>
                </a:solidFill>
                <a:latin typeface="Consolas"/>
              </a:rPr>
              <a:t>1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=</a:t>
            </a:r>
            <a:r>
              <a:rPr sz="1600">
                <a:solidFill>
                  <a:srgbClr val="89DDFF"/>
                </a:solidFill>
                <a:latin typeface="Consolas"/>
              </a:rPr>
              <a:t>=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78C6C"/>
                </a:solidFill>
                <a:latin typeface="Consolas"/>
              </a:rPr>
              <a:t>1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    </a:t>
            </a:r>
            <a:r>
              <a:rPr sz="1600">
                <a:solidFill>
                  <a:srgbClr val="EEFFFF"/>
                </a:solidFill>
                <a:latin typeface="Consolas"/>
              </a:rPr>
              <a:t>bits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&gt;</a:t>
            </a:r>
            <a:r>
              <a:rPr sz="1600">
                <a:solidFill>
                  <a:srgbClr val="89DDFF"/>
                </a:solidFill>
                <a:latin typeface="Consolas"/>
              </a:rPr>
              <a:t>&gt;</a:t>
            </a:r>
            <a:r>
              <a:rPr sz="1600">
                <a:solidFill>
                  <a:srgbClr val="89DDFF"/>
                </a:solidFill>
                <a:latin typeface="Consolas"/>
              </a:rPr>
              <a:t>=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78C6C"/>
                </a:solidFill>
                <a:latin typeface="Consolas"/>
              </a:rPr>
              <a:t>1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TECHNIQUE NAME: constraint-gated methods.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" y="109728"/>
            <a:ext cx="8814816" cy="66385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- Methods that only exist when certain constraints are met.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main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let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mut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any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=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OutputArray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89DDFF"/>
                </a:solidFill>
                <a:latin typeface="Consolas"/>
              </a:rPr>
              <a:t>&lt;</a:t>
            </a:r>
            <a:r>
              <a:rPr sz="1600">
                <a:solidFill>
                  <a:srgbClr val="F78C6C"/>
                </a:solidFill>
                <a:latin typeface="Consolas"/>
              </a:rPr>
              <a:t>4</a:t>
            </a:r>
            <a:r>
              <a:rPr sz="1600">
                <a:solidFill>
                  <a:srgbClr val="89DDFF"/>
                </a:solidFill>
                <a:latin typeface="Consolas"/>
              </a:rPr>
              <a:t>&gt;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new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EEFFFF"/>
                </a:solidFill>
                <a:latin typeface="Consolas"/>
              </a:rPr>
              <a:t>any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EEFFFF"/>
                </a:solidFill>
                <a:latin typeface="Consolas"/>
              </a:rPr>
              <a:t>set_level_at_index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F78C6C"/>
                </a:solidFill>
                <a:latin typeface="Consolas"/>
              </a:rPr>
              <a:t>2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true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let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mut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eight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=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OutputArray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89DDFF"/>
                </a:solidFill>
                <a:latin typeface="Consolas"/>
              </a:rPr>
              <a:t>&lt;</a:t>
            </a:r>
            <a:r>
              <a:rPr sz="1600">
                <a:solidFill>
                  <a:srgbClr val="F78C6C"/>
                </a:solidFill>
                <a:latin typeface="Consolas"/>
              </a:rPr>
              <a:t>8</a:t>
            </a:r>
            <a:r>
              <a:rPr sz="1600">
                <a:solidFill>
                  <a:srgbClr val="89DDFF"/>
                </a:solidFill>
                <a:latin typeface="Consolas"/>
              </a:rPr>
              <a:t>&gt;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new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EEFFFF"/>
                </a:solidFill>
                <a:latin typeface="Consolas"/>
              </a:rPr>
              <a:t>eight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EEFFFF"/>
                </a:solidFill>
                <a:latin typeface="Consolas"/>
              </a:rPr>
              <a:t>set_from_bits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F78C6C"/>
                </a:solidFill>
                <a:latin typeface="Consolas"/>
              </a:rPr>
              <a:t>0b1011_0001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82AAFF"/>
                </a:solidFill>
                <a:latin typeface="Consolas"/>
              </a:rPr>
              <a:t>assert_eq!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EEFFFF"/>
                </a:solidFill>
                <a:latin typeface="Consolas"/>
              </a:rPr>
              <a:t>any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EEFFFF"/>
                </a:solidFill>
                <a:latin typeface="Consolas"/>
              </a:rPr>
              <a:t>levels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[</a:t>
            </a:r>
            <a:r>
              <a:rPr sz="1600">
                <a:solidFill>
                  <a:srgbClr val="C792EA"/>
                </a:solidFill>
                <a:latin typeface="Consolas"/>
              </a:rPr>
              <a:t>false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false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true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false</a:t>
            </a:r>
            <a:r>
              <a:rPr sz="1600">
                <a:solidFill>
                  <a:srgbClr val="BAC2DE"/>
                </a:solidFill>
                <a:latin typeface="Consolas"/>
              </a:rPr>
              <a:t>]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82AAFF"/>
                </a:solidFill>
                <a:latin typeface="Consolas"/>
              </a:rPr>
              <a:t>assert_eq!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EEFFFF"/>
                </a:solidFill>
                <a:latin typeface="Consolas"/>
              </a:rPr>
              <a:t>eight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EEFFFF"/>
                </a:solidFill>
                <a:latin typeface="Consolas"/>
              </a:rPr>
              <a:t>levels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[</a:t>
            </a:r>
            <a:r>
              <a:rPr sz="1600">
                <a:solidFill>
                  <a:srgbClr val="C792EA"/>
                </a:solidFill>
                <a:latin typeface="Consolas"/>
              </a:rPr>
              <a:t>true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false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false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false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true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true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false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true</a:t>
            </a:r>
            <a:r>
              <a:rPr sz="1600">
                <a:solidFill>
                  <a:srgbClr val="BAC2DE"/>
                </a:solidFill>
                <a:latin typeface="Consolas"/>
              </a:rPr>
              <a:t>]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