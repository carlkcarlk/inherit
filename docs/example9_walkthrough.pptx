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0"/>
            <a:ext cx="1600200" cy="6858000"/>
          </a:xfrm>
          <a:prstGeom prst="rect">
            <a:avLst/>
          </a:prstGeom>
          <a:solidFill>
            <a:srgbClr val="FAFA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 rot="16200000">
            <a:off x="10664952" y="274320"/>
            <a:ext cx="1453896" cy="6309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>
                <a:solidFill>
                  <a:srgbClr val="141414"/>
                </a:solidFill>
                <a:latin typeface="Aptos"/>
              </a:defRPr>
            </a:pPr>
            <a:r>
              <a:t>Puzzle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9494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E6"/>
                </a:solidFill>
                <a:latin typeface="Aptos"/>
              </a:rPr>
              <a:t>We want two levels of </a:t>
            </a:r>
            <a:r>
              <a:rPr sz="1600">
                <a:solidFill>
                  <a:srgbClr val="FFFFFF"/>
                </a:solidFill>
                <a:latin typeface="Consolas"/>
              </a:rPr>
              <a:t>FlashBlock</a:t>
            </a:r>
            <a:r>
              <a:rPr sz="1600">
                <a:solidFill>
                  <a:srgbClr val="E6E6E6"/>
                </a:solidFill>
                <a:latin typeface="Aptos"/>
              </a:rPr>
              <a:t>: a base level with </a:t>
            </a:r>
            <a:r>
              <a:rPr sz="1600">
                <a:solidFill>
                  <a:srgbClr val="FFFFFF"/>
                </a:solidFill>
                <a:latin typeface="Consolas"/>
              </a:rPr>
              <a:t>new</a:t>
            </a:r>
            <a:r>
              <a:rPr sz="1600">
                <a:solidFill>
                  <a:srgbClr val="E6E6E6"/>
                </a:solidFill>
                <a:latin typeface="Aptos"/>
              </a:rPr>
              <a:t> and </a:t>
            </a:r>
            <a:r>
              <a:rPr sz="1600">
                <a:solidFill>
                  <a:srgbClr val="FFFFFF"/>
                </a:solidFill>
                <a:latin typeface="Consolas"/>
              </a:rPr>
              <a:t>clear</a:t>
            </a:r>
            <a:r>
              <a:rPr sz="1600">
                <a:solidFill>
                  <a:srgbClr val="E6E6E6"/>
                </a:solidFill>
                <a:latin typeface="Aptos"/>
              </a:rPr>
              <a:t>, and a constrained level that adds </a:t>
            </a:r>
            <a:r>
              <a:rPr sz="1600">
                <a:solidFill>
                  <a:srgbClr val="FFFFFF"/>
                </a:solidFill>
                <a:latin typeface="Consolas"/>
              </a:rPr>
              <a:t>save</a:t>
            </a:r>
            <a:r>
              <a:rPr sz="1600">
                <a:solidFill>
                  <a:srgbClr val="E6E6E6"/>
                </a:solidFill>
                <a:latin typeface="Aptos"/>
              </a:rPr>
              <a:t> and </a:t>
            </a:r>
            <a:r>
              <a:rPr sz="1600">
                <a:solidFill>
                  <a:srgbClr val="FFFFFF"/>
                </a:solidFill>
                <a:latin typeface="Consolas"/>
              </a:rPr>
              <a:t>load</a:t>
            </a:r>
            <a:r>
              <a:rPr sz="1600">
                <a:solidFill>
                  <a:srgbClr val="E6E6E6"/>
                </a:solidFill>
                <a:latin typeface="Aptos"/>
              </a:rPr>
              <a:t> only when </a:t>
            </a:r>
            <a:r>
              <a:rPr sz="1600">
                <a:solidFill>
                  <a:srgbClr val="FFFFFF"/>
                </a:solidFill>
                <a:latin typeface="Consolas"/>
              </a:rPr>
              <a:t>T</a:t>
            </a:r>
            <a:r>
              <a:rPr sz="1600">
                <a:solidFill>
                  <a:srgbClr val="E6E6E6"/>
                </a:solidFill>
                <a:latin typeface="Aptos"/>
              </a:rPr>
              <a:t> satisfies both serialization and deserialization capabilities.</a:t>
            </a:r>
          </a:p>
        </p:txBody>
      </p:sp>
      <p:pic>
        <p:nvPicPr>
          <p:cNvPr id="6" name="Picture 5" descr="9_puzzl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1103" y="1691640"/>
            <a:ext cx="7229592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11862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use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std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collections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HashMap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use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serde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de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DeserializeOwned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use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serde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Deserialize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Serialize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#[</a:t>
            </a:r>
            <a:r>
              <a:rPr sz="1600">
                <a:solidFill>
                  <a:srgbClr val="6A9955"/>
                </a:solidFill>
                <a:latin typeface="Consolas"/>
              </a:rPr>
              <a:t>derive(Debug, Clone, Serialize, Deserialize, PartialEq, Eq)</a:t>
            </a:r>
            <a:r>
              <a:rPr sz="1600">
                <a:solidFill>
                  <a:srgbClr val="6A9955"/>
                </a:solidFill>
                <a:latin typeface="Consolas"/>
              </a:rPr>
              <a:t>]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struct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WifiCredentials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ssid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String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password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String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3E88D"/>
                </a:solidFill>
                <a:latin typeface="Consolas"/>
              </a:rPr>
              <a:t>/// Key point: method-level gating.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3E88D"/>
                </a:solidFill>
                <a:latin typeface="Consolas"/>
              </a:rPr>
              <a:t>/// - The type exists for all use-cases.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3E88D"/>
                </a:solidFill>
                <a:latin typeface="Consolas"/>
              </a:rPr>
              <a:t>/// - Only `save/load&lt;T&gt;` require extra capabilities on `T`.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#[</a:t>
            </a:r>
            <a:r>
              <a:rPr sz="1600">
                <a:solidFill>
                  <a:srgbClr val="6A9955"/>
                </a:solidFill>
                <a:latin typeface="Consolas"/>
              </a:rPr>
              <a:t>derive(Default)</a:t>
            </a:r>
            <a:r>
              <a:rPr sz="1600">
                <a:solidFill>
                  <a:srgbClr val="6A9955"/>
                </a:solidFill>
                <a:latin typeface="Consolas"/>
              </a:rPr>
              <a:t>]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struct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FlashBlock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store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HashMap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89DDFF"/>
                </a:solidFill>
                <a:latin typeface="Consolas"/>
              </a:rPr>
              <a:t>String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Vec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C792EA"/>
                </a:solidFill>
                <a:latin typeface="Consolas"/>
              </a:rPr>
              <a:t>u8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FlashBlock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new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default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clear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C792EA"/>
                </a:solidFill>
                <a:latin typeface="Consolas"/>
              </a:rPr>
              <a:t>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store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clear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11862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save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EEFFFF"/>
                </a:solidFill>
                <a:latin typeface="Consolas"/>
              </a:rPr>
              <a:t>T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C792EA"/>
                </a:solidFill>
                <a:latin typeface="Consolas"/>
              </a:rPr>
              <a:t>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key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&amp;</a:t>
            </a:r>
            <a:r>
              <a:rPr sz="1600">
                <a:solidFill>
                  <a:srgbClr val="C792EA"/>
                </a:solidFill>
                <a:latin typeface="Consolas"/>
              </a:rPr>
              <a:t>str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value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&amp;</a:t>
            </a:r>
            <a:r>
              <a:rPr sz="1600">
                <a:solidFill>
                  <a:srgbClr val="FFCB6B"/>
                </a:solidFill>
                <a:latin typeface="Consolas"/>
              </a:rPr>
              <a:t>T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Result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postcard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Error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where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EEFFFF"/>
                </a:solidFill>
                <a:latin typeface="Consolas"/>
              </a:rPr>
              <a:t>T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Serialize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+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DeserializeOwned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bytes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postcard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to_stdvec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value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89DDFF"/>
                </a:solidFill>
                <a:latin typeface="Consolas"/>
              </a:rPr>
              <a:t>?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store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insert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key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to_string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bytes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9DDFF"/>
                </a:solidFill>
                <a:latin typeface="Consolas"/>
              </a:rPr>
              <a:t>Ok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load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EEFFFF"/>
                </a:solidFill>
                <a:latin typeface="Consolas"/>
              </a:rPr>
              <a:t>T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key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&amp;</a:t>
            </a:r>
            <a:r>
              <a:rPr sz="1600">
                <a:solidFill>
                  <a:srgbClr val="C792EA"/>
                </a:solidFill>
                <a:latin typeface="Consolas"/>
              </a:rPr>
              <a:t>str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Option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EEFFFF"/>
                </a:solidFill>
                <a:latin typeface="Consolas"/>
              </a:rPr>
              <a:t>T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where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EEFFFF"/>
                </a:solidFill>
                <a:latin typeface="Consolas"/>
              </a:rPr>
              <a:t>T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Serialize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+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DeserializeOwned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bytes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store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get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key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89DDFF"/>
                </a:solidFill>
                <a:latin typeface="Consolas"/>
              </a:rPr>
              <a:t>?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EEFFFF"/>
                </a:solidFill>
                <a:latin typeface="Consolas"/>
              </a:rPr>
              <a:t>postcard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from_bytes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bytes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ok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TECHNIQUE NAME: method-level gating.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main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Result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postcard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Error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flash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FlashBlock</a:t>
            </a:r>
            <a:r>
              <a:rPr sz="1600">
                <a:solidFill>
                  <a:srgbClr val="BAC2DE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new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credentials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WifiCredentials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11862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EEFFFF"/>
                </a:solidFill>
                <a:latin typeface="Consolas"/>
              </a:rPr>
              <a:t>ssid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C3E88D"/>
                </a:solidFill>
                <a:latin typeface="Consolas"/>
              </a:rPr>
              <a:t>HomeWiFi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to_string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EEFFFF"/>
                </a:solidFill>
                <a:latin typeface="Consolas"/>
              </a:rPr>
              <a:t>password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C3E88D"/>
                </a:solidFill>
                <a:latin typeface="Consolas"/>
              </a:rPr>
              <a:t>secret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to_string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// Works: WifiCredentials satisfies Serialize + Deserialize.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flash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save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C3E88D"/>
                </a:solidFill>
                <a:latin typeface="Consolas"/>
              </a:rPr>
              <a:t>wifi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EEFFFF"/>
                </a:solidFill>
                <a:latin typeface="Consolas"/>
              </a:rPr>
              <a:t>credentials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89DDFF"/>
                </a:solidFill>
                <a:latin typeface="Consolas"/>
              </a:rPr>
              <a:t>?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loaded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Option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EEFFFF"/>
                </a:solidFill>
                <a:latin typeface="Consolas"/>
              </a:rPr>
              <a:t>WifiCredentials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flash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load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C3E88D"/>
                </a:solidFill>
                <a:latin typeface="Consolas"/>
              </a:rPr>
              <a:t>wifi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loaded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loaded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unwrap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EEFFFF"/>
                </a:solidFill>
                <a:latin typeface="Consolas"/>
              </a:rPr>
              <a:t>loaded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ssid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C3E88D"/>
                </a:solidFill>
                <a:latin typeface="Consolas"/>
              </a:rPr>
              <a:t>HomeWiFi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EEFFFF"/>
                </a:solidFill>
                <a:latin typeface="Consolas"/>
              </a:rPr>
              <a:t>loaded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password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C3E88D"/>
                </a:solidFill>
                <a:latin typeface="Consolas"/>
              </a:rPr>
              <a:t>secret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flash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clear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flash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load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89DDFF"/>
                </a:solidFill>
                <a:latin typeface="Consolas"/>
              </a:rPr>
              <a:t>&lt;</a:t>
            </a:r>
            <a:r>
              <a:rPr sz="1600">
                <a:solidFill>
                  <a:srgbClr val="EEFFFF"/>
                </a:solidFill>
                <a:latin typeface="Consolas"/>
              </a:rPr>
              <a:t>WifiCredentials</a:t>
            </a:r>
            <a:r>
              <a:rPr sz="1600">
                <a:solidFill>
                  <a:srgbClr val="89DDFF"/>
                </a:solidFill>
                <a:latin typeface="Consolas"/>
              </a:rPr>
              <a:t>&gt;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C3E88D"/>
                </a:solidFill>
                <a:latin typeface="Consolas"/>
              </a:rPr>
              <a:t>wifi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is_none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9DDFF"/>
                </a:solidFill>
                <a:latin typeface="Consolas"/>
              </a:rPr>
              <a:t>Ok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