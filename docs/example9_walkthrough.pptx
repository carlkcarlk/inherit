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two levels of </a:t>
            </a:r>
            <a:r>
              <a:rPr sz="1600">
                <a:solidFill>
                  <a:srgbClr val="FFFFFF"/>
                </a:solidFill>
                <a:latin typeface="Consolas"/>
              </a:rPr>
              <a:t>FlashBlock</a:t>
            </a:r>
            <a:r>
              <a:rPr sz="1600">
                <a:solidFill>
                  <a:srgbClr val="E6E6E6"/>
                </a:solidFill>
                <a:latin typeface="Aptos"/>
              </a:rPr>
              <a:t>: a base level with </a:t>
            </a:r>
            <a:r>
              <a:rPr sz="1600">
                <a:solidFill>
                  <a:srgbClr val="FFFFFF"/>
                </a:solidFill>
                <a:latin typeface="Consolas"/>
              </a:rPr>
              <a:t>new</a:t>
            </a:r>
            <a:r>
              <a:rPr sz="1600">
                <a:solidFill>
                  <a:srgbClr val="E6E6E6"/>
                </a:solidFill>
                <a:latin typeface="Aptos"/>
              </a:rPr>
              <a:t> and </a:t>
            </a:r>
            <a:r>
              <a:rPr sz="1600">
                <a:solidFill>
                  <a:srgbClr val="FFFFFF"/>
                </a:solidFill>
                <a:latin typeface="Consolas"/>
              </a:rPr>
              <a:t>clear</a:t>
            </a:r>
            <a:r>
              <a:rPr sz="1600">
                <a:solidFill>
                  <a:srgbClr val="E6E6E6"/>
                </a:solidFill>
                <a:latin typeface="Aptos"/>
              </a:rPr>
              <a:t>, and a constrained level that adds </a:t>
            </a:r>
            <a:r>
              <a:rPr sz="1600">
                <a:solidFill>
                  <a:srgbClr val="FFFFFF"/>
                </a:solidFill>
                <a:latin typeface="Consolas"/>
              </a:rPr>
              <a:t>save</a:t>
            </a:r>
            <a:r>
              <a:rPr sz="1600">
                <a:solidFill>
                  <a:srgbClr val="E6E6E6"/>
                </a:solidFill>
                <a:latin typeface="Aptos"/>
              </a:rPr>
              <a:t> and </a:t>
            </a:r>
            <a:r>
              <a:rPr sz="1600">
                <a:solidFill>
                  <a:srgbClr val="FFFFFF"/>
                </a:solidFill>
                <a:latin typeface="Consolas"/>
              </a:rPr>
              <a:t>load</a:t>
            </a:r>
            <a:r>
              <a:rPr sz="1600">
                <a:solidFill>
                  <a:srgbClr val="E6E6E6"/>
                </a:solidFill>
                <a:latin typeface="Aptos"/>
              </a:rPr>
              <a:t> only when </a:t>
            </a:r>
            <a:r>
              <a:rPr sz="1600">
                <a:solidFill>
                  <a:srgbClr val="FFFFFF"/>
                </a:solidFill>
                <a:latin typeface="Consolas"/>
              </a:rPr>
              <a:t>T</a:t>
            </a:r>
            <a:r>
              <a:rPr sz="1600">
                <a:solidFill>
                  <a:srgbClr val="E6E6E6"/>
                </a:solidFill>
                <a:latin typeface="Aptos"/>
              </a:rPr>
              <a:t> satisfies both serialization and deserialization capabilities.</a:t>
            </a:r>
          </a:p>
        </p:txBody>
      </p:sp>
      <p:pic>
        <p:nvPicPr>
          <p:cNvPr id="6" name="Picture 5" descr="9_puzz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691640"/>
            <a:ext cx="6995160" cy="46891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collections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HashMap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serde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DeserializeOwned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serde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Serialize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derive(Debug, Clone, Serialize, Deserialize, PartialEq, Eq)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WifiCredentials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ssid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password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3E88D"/>
                </a:solidFill>
                <a:latin typeface="Consolas"/>
              </a:rPr>
              <a:t>/// Key point: method-level gating.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3E88D"/>
                </a:solidFill>
                <a:latin typeface="Consolas"/>
              </a:rPr>
              <a:t>/// - The type exists for all use-cases.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3E88D"/>
                </a:solidFill>
                <a:latin typeface="Consolas"/>
              </a:rPr>
              <a:t>/// - Only `save/load&lt;T&gt;` require extra capabilities on `T`.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derive(Default)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FlashBlock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HashMap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Vec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FlashBlock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default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clear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clear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save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str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value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T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Result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Error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Serialize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DeserializeOwned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to_stdvec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value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89DDFF"/>
                </a:solidFill>
                <a:latin typeface="Consolas"/>
              </a:rPr>
              <a:t>?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insert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to_string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Ok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load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str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Option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Serialize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DeserializeOwned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get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89DDFF"/>
                </a:solidFill>
                <a:latin typeface="Consolas"/>
              </a:rPr>
              <a:t>?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from_bytes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ok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Result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Error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FlashBlock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credentials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WifiCredentials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ssid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HomeWiFi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to_string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password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secret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to_string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Works: WifiCredentials satisfies Serialize + Deserialize.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save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credentials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89DDFF"/>
                </a:solidFill>
                <a:latin typeface="Consolas"/>
              </a:rPr>
              <a:t>?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Option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WifiCredentials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load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unwrap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ssid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HomeWiFi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password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secret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clear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load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WifiCredentials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is_none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9DDFF"/>
                </a:solidFill>
                <a:latin typeface="Consolas"/>
              </a:rPr>
              <a:t>Ok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