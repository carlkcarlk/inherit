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latin typeface="Calibri"/>
              </a:defRPr>
            </a:pPr>
            <a:r>
              <a:t>Puzzle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Calibri"/>
              </a:rPr>
              <a:t>In our library for sets of integers, we require that all integers have certain functions like </a:t>
            </a:r>
            <a:r>
              <a:rPr sz="1600">
                <a:latin typeface="Consolas"/>
              </a:rPr>
              <a:t>min_value</a:t>
            </a:r>
            <a:r>
              <a:rPr sz="1600">
                <a:latin typeface="Calibri"/>
              </a:rPr>
              <a:t>. We also want all integers to inherit certain other functions such as </a:t>
            </a:r>
            <a:r>
              <a:rPr sz="1600">
                <a:latin typeface="Consolas"/>
              </a:rPr>
              <a:t>exhausted_range</a:t>
            </a:r>
            <a:r>
              <a:rPr sz="1600">
                <a:latin typeface="Calibri"/>
              </a:rPr>
              <a:t>.</a:t>
            </a:r>
          </a:p>
        </p:txBody>
      </p:sp>
      <p:pic>
        <p:nvPicPr>
          <p:cNvPr id="4" name="Picture 3" descr="1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480" y="1874519"/>
            <a:ext cx="483503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latin typeface="Calibri"/>
              </a:defRPr>
            </a:pPr>
            <a:r>
              <a:t>Rust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804672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586C0"/>
                </a:solidFill>
                <a:latin typeface="Consolas"/>
              </a:rPr>
              <a:t>use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std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ops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RangeInclusive</a:t>
            </a:r>
            <a:r>
              <a:rPr sz="10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A9955"/>
                </a:solidFill>
                <a:latin typeface="Consolas"/>
              </a:rPr>
              <a:t>// Mini version of `range-set-blaze`'s Integer pattern.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586C0"/>
                </a:solidFill>
                <a:latin typeface="Consolas"/>
              </a:rPr>
              <a:t>trait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Integer</a:t>
            </a:r>
            <a:r>
              <a:rPr sz="1000">
                <a:solidFill>
                  <a:srgbClr val="DCDCDC"/>
                </a:solidFill>
                <a:latin typeface="Consolas"/>
              </a:rPr>
              <a:t>: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Copy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+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Ord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586C0"/>
                </a:solidFill>
                <a:latin typeface="Consolas"/>
              </a:rPr>
              <a:t>fn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AA"/>
                </a:solidFill>
                <a:latin typeface="Consolas"/>
              </a:rPr>
              <a:t>min_value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-&gt;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586C0"/>
                </a:solidFill>
                <a:latin typeface="Consolas"/>
              </a:rPr>
              <a:t>fn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AA"/>
                </a:solidFill>
                <a:latin typeface="Consolas"/>
              </a:rPr>
              <a:t>max_value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-&gt;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E9178"/>
                </a:solidFill>
                <a:latin typeface="Consolas"/>
              </a:rPr>
              <a:t>/// Returns an exhausted range, which is a range that starts from the maximum value and ends at the minimum value.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E9178"/>
                </a:solidFill>
                <a:latin typeface="Consolas"/>
              </a:rPr>
              <a:t>/// This results in an empty range.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6A9955"/>
                </a:solidFill>
                <a:latin typeface="Consolas"/>
              </a:rPr>
              <a:t>//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6A9955"/>
                </a:solidFill>
                <a:latin typeface="Consolas"/>
              </a:rPr>
              <a:t>// Default behavior inherited by implementors.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6A9955"/>
                </a:solidFill>
                <a:latin typeface="Consolas"/>
              </a:rPr>
              <a:t>// Any impl can override this method if it needs specialized behavior.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586C0"/>
                </a:solidFill>
                <a:latin typeface="Consolas"/>
              </a:rPr>
              <a:t>fn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AA"/>
                </a:solidFill>
                <a:latin typeface="Consolas"/>
              </a:rPr>
              <a:t>exhausted_range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-&gt;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RangeInclusive</a:t>
            </a:r>
            <a:r>
              <a:rPr sz="1000">
                <a:solidFill>
                  <a:srgbClr val="DCDCDC"/>
                </a:solidFill>
                <a:latin typeface="Consolas"/>
              </a:rPr>
              <a:t>&lt;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&gt;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    </a:t>
            </a:r>
            <a:r>
              <a:rPr sz="1000">
                <a:solidFill>
                  <a:srgbClr val="DCDCAA"/>
                </a:solidFill>
                <a:latin typeface="Consolas"/>
              </a:rPr>
              <a:t>debug_assert!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min_value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&lt;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max_value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,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CE9178"/>
                </a:solidFill>
                <a:latin typeface="Consolas"/>
              </a:rPr>
              <a:t>"</a:t>
            </a:r>
            <a:r>
              <a:rPr sz="1000">
                <a:solidFill>
                  <a:srgbClr val="CE9178"/>
                </a:solidFill>
                <a:latin typeface="Consolas"/>
              </a:rPr>
              <a:t>Precondition violated: min_value must be less than max_value</a:t>
            </a:r>
            <a:r>
              <a:rPr sz="1000">
                <a:solidFill>
                  <a:srgbClr val="CE9178"/>
                </a:solidFill>
                <a:latin typeface="Consolas"/>
              </a:rPr>
              <a:t>"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    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max_value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..=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min_value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586C0"/>
                </a:solidFill>
                <a:latin typeface="Consolas"/>
              </a:rPr>
              <a:t>impl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Integer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C586C0"/>
                </a:solidFill>
                <a:latin typeface="Consolas"/>
              </a:rPr>
              <a:t>for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C586C0"/>
                </a:solidFill>
                <a:latin typeface="Consolas"/>
              </a:rPr>
              <a:t>u8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586C0"/>
                </a:solidFill>
                <a:latin typeface="Consolas"/>
              </a:rPr>
              <a:t>fn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AA"/>
                </a:solidFill>
                <a:latin typeface="Consolas"/>
              </a:rPr>
              <a:t>min_value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-&gt;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    </a:t>
            </a:r>
            <a:r>
              <a:rPr sz="1000">
                <a:solidFill>
                  <a:srgbClr val="C586C0"/>
                </a:solidFill>
                <a:latin typeface="Consolas"/>
              </a:rPr>
              <a:t>u8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MIN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586C0"/>
                </a:solidFill>
                <a:latin typeface="Consolas"/>
              </a:rPr>
              <a:t>fn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AA"/>
                </a:solidFill>
                <a:latin typeface="Consolas"/>
              </a:rPr>
              <a:t>max_value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-&gt;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    </a:t>
            </a:r>
            <a:r>
              <a:rPr sz="1000">
                <a:solidFill>
                  <a:srgbClr val="C586C0"/>
                </a:solidFill>
                <a:latin typeface="Consolas"/>
              </a:rPr>
              <a:t>u8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MAX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586C0"/>
                </a:solidFill>
                <a:latin typeface="Consolas"/>
              </a:rPr>
              <a:t>impl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Integer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C586C0"/>
                </a:solidFill>
                <a:latin typeface="Consolas"/>
              </a:rPr>
              <a:t>for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C586C0"/>
                </a:solidFill>
                <a:latin typeface="Consolas"/>
              </a:rPr>
              <a:t>i16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586C0"/>
                </a:solidFill>
                <a:latin typeface="Consolas"/>
              </a:rPr>
              <a:t>fn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AA"/>
                </a:solidFill>
                <a:latin typeface="Consolas"/>
              </a:rPr>
              <a:t>min_value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-&gt;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    </a:t>
            </a:r>
            <a:r>
              <a:rPr sz="1000">
                <a:solidFill>
                  <a:srgbClr val="C586C0"/>
                </a:solidFill>
                <a:latin typeface="Consolas"/>
              </a:rPr>
              <a:t>i16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MIN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586C0"/>
                </a:solidFill>
                <a:latin typeface="Consolas"/>
              </a:rPr>
              <a:t>fn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AA"/>
                </a:solidFill>
                <a:latin typeface="Consolas"/>
              </a:rPr>
              <a:t>max_value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-&gt;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4EC9B0"/>
                </a:solidFill>
                <a:latin typeface="Consolas"/>
              </a:rPr>
              <a:t>Self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    </a:t>
            </a:r>
            <a:r>
              <a:rPr sz="1000">
                <a:solidFill>
                  <a:srgbClr val="C586C0"/>
                </a:solidFill>
                <a:latin typeface="Consolas"/>
              </a:rPr>
              <a:t>i16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MAX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586C0"/>
                </a:solidFill>
                <a:latin typeface="Consolas"/>
              </a:rPr>
              <a:t>fn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AA"/>
                </a:solidFill>
                <a:latin typeface="Consolas"/>
              </a:rPr>
              <a:t>main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586C0"/>
                </a:solidFill>
                <a:latin typeface="Consolas"/>
              </a:rPr>
              <a:t>let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r1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=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C586C0"/>
                </a:solidFill>
                <a:latin typeface="Consolas"/>
              </a:rPr>
              <a:t>u8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exhausted_range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C586C0"/>
                </a:solidFill>
                <a:latin typeface="Consolas"/>
              </a:rPr>
              <a:t>let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r2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=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C586C0"/>
                </a:solidFill>
                <a:latin typeface="Consolas"/>
              </a:rPr>
              <a:t>i16</a:t>
            </a:r>
            <a:r>
              <a:rPr sz="1000">
                <a:solidFill>
                  <a:srgbClr val="DCDCDC"/>
                </a:solidFill>
                <a:latin typeface="Consolas"/>
              </a:rPr>
              <a:t>::</a:t>
            </a:r>
            <a:r>
              <a:rPr sz="1000">
                <a:solidFill>
                  <a:srgbClr val="DCDCDC"/>
                </a:solidFill>
                <a:latin typeface="Consolas"/>
              </a:rPr>
              <a:t>exhausted_range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DCDCAA"/>
                </a:solidFill>
                <a:latin typeface="Consolas"/>
              </a:rPr>
              <a:t>println!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CE9178"/>
                </a:solidFill>
                <a:latin typeface="Consolas"/>
              </a:rPr>
              <a:t>"</a:t>
            </a:r>
            <a:r>
              <a:rPr sz="1000">
                <a:solidFill>
                  <a:srgbClr val="CE9178"/>
                </a:solidFill>
                <a:latin typeface="Consolas"/>
              </a:rPr>
              <a:t>u8 exhausted range is empty: {}</a:t>
            </a:r>
            <a:r>
              <a:rPr sz="1000">
                <a:solidFill>
                  <a:srgbClr val="CE9178"/>
                </a:solidFill>
                <a:latin typeface="Consolas"/>
              </a:rPr>
              <a:t>"</a:t>
            </a:r>
            <a:r>
              <a:rPr sz="1000">
                <a:solidFill>
                  <a:srgbClr val="DCDCDC"/>
                </a:solidFill>
                <a:latin typeface="Consolas"/>
              </a:rPr>
              <a:t>,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r1</a:t>
            </a:r>
            <a:r>
              <a:rPr sz="1000">
                <a:solidFill>
                  <a:srgbClr val="DCDCDC"/>
                </a:solidFill>
                <a:latin typeface="Consolas"/>
              </a:rPr>
              <a:t>.</a:t>
            </a:r>
            <a:r>
              <a:rPr sz="1000">
                <a:solidFill>
                  <a:srgbClr val="DCDCDC"/>
                </a:solidFill>
                <a:latin typeface="Consolas"/>
              </a:rPr>
              <a:t>is_empty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    </a:t>
            </a:r>
            <a:r>
              <a:rPr sz="1000">
                <a:solidFill>
                  <a:srgbClr val="DCDCAA"/>
                </a:solidFill>
                <a:latin typeface="Consolas"/>
              </a:rPr>
              <a:t>println!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CE9178"/>
                </a:solidFill>
                <a:latin typeface="Consolas"/>
              </a:rPr>
              <a:t>"</a:t>
            </a:r>
            <a:r>
              <a:rPr sz="1000">
                <a:solidFill>
                  <a:srgbClr val="CE9178"/>
                </a:solidFill>
                <a:latin typeface="Consolas"/>
              </a:rPr>
              <a:t>i16 exhausted range is empty: {}</a:t>
            </a:r>
            <a:r>
              <a:rPr sz="1000">
                <a:solidFill>
                  <a:srgbClr val="CE9178"/>
                </a:solidFill>
                <a:latin typeface="Consolas"/>
              </a:rPr>
              <a:t>"</a:t>
            </a:r>
            <a:r>
              <a:rPr sz="1000">
                <a:solidFill>
                  <a:srgbClr val="DCDCDC"/>
                </a:solidFill>
                <a:latin typeface="Consolas"/>
              </a:rPr>
              <a:t>,</a:t>
            </a:r>
            <a:r>
              <a:rPr sz="1000">
                <a:solidFill>
                  <a:srgbClr val="DCDCDC"/>
                </a:solidFill>
                <a:latin typeface="Consolas"/>
              </a:rPr>
              <a:t> </a:t>
            </a:r>
            <a:r>
              <a:rPr sz="1000">
                <a:solidFill>
                  <a:srgbClr val="DCDCDC"/>
                </a:solidFill>
                <a:latin typeface="Consolas"/>
              </a:rPr>
              <a:t>r2</a:t>
            </a:r>
            <a:r>
              <a:rPr sz="1000">
                <a:solidFill>
                  <a:srgbClr val="DCDCDC"/>
                </a:solidFill>
                <a:latin typeface="Consolas"/>
              </a:rPr>
              <a:t>.</a:t>
            </a:r>
            <a:r>
              <a:rPr sz="1000">
                <a:solidFill>
                  <a:srgbClr val="DCDCDC"/>
                </a:solidFill>
                <a:latin typeface="Consolas"/>
              </a:rPr>
              <a:t>is_empty</a:t>
            </a:r>
            <a:r>
              <a:rPr sz="1000">
                <a:solidFill>
                  <a:srgbClr val="DCDCDC"/>
                </a:solidFill>
                <a:latin typeface="Consolas"/>
              </a:rPr>
              <a:t>(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)</a:t>
            </a:r>
            <a:r>
              <a:rPr sz="10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CDCD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