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43800" y="0"/>
            <a:ext cx="1600200" cy="6858000"/>
          </a:xfrm>
          <a:prstGeom prst="rect">
            <a:avLst/>
          </a:prstGeom>
          <a:solidFill>
            <a:srgbClr val="FAFA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 rot="16200000">
            <a:off x="7616952" y="274320"/>
            <a:ext cx="1453896" cy="6309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>
                <a:solidFill>
                  <a:srgbClr val="141414"/>
                </a:solidFill>
                <a:latin typeface="Aptos"/>
              </a:defRPr>
            </a:pPr>
            <a:r>
              <a:t>Puzzle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6446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E6"/>
                </a:solidFill>
                <a:latin typeface="Aptos"/>
              </a:rPr>
              <a:t>We want to add a new method </a:t>
            </a:r>
            <a:r>
              <a:rPr sz="1600">
                <a:solidFill>
                  <a:srgbClr val="FFFFFF"/>
                </a:solidFill>
                <a:latin typeface="Consolas"/>
              </a:rPr>
              <a:t>is_odd()</a:t>
            </a:r>
            <a:r>
              <a:rPr sz="1600">
                <a:solidFill>
                  <a:srgbClr val="E6E6E6"/>
                </a:solidFill>
                <a:latin typeface="Aptos"/>
              </a:rPr>
              <a:t> to an existing concrete type </a:t>
            </a:r>
            <a:r>
              <a:rPr sz="1600">
                <a:solidFill>
                  <a:srgbClr val="FFFFFF"/>
                </a:solidFill>
                <a:latin typeface="Consolas"/>
              </a:rPr>
              <a:t>usize</a:t>
            </a:r>
            <a:r>
              <a:rPr sz="1600">
                <a:solidFill>
                  <a:srgbClr val="E6E6E6"/>
                </a:solidFill>
                <a:latin typeface="Aptos"/>
              </a:rPr>
              <a:t>, even though we do not own that type.</a:t>
            </a:r>
          </a:p>
        </p:txBody>
      </p:sp>
      <p:pic>
        <p:nvPicPr>
          <p:cNvPr id="6" name="Picture 5" descr="3_puzzl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291" y="1691640"/>
            <a:ext cx="3765217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trait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UsizeExtensions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is_odd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bool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UsizeExtensions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usize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is_odd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bool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1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0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TECHNIQUE NAME: extension traits.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main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count</a:t>
            </a:r>
            <a:r>
              <a:rPr sz="1600">
                <a:solidFill>
                  <a:srgbClr val="BAC2DE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usize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7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count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is_odd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!</a:t>
            </a:r>
            <a:r>
              <a:rPr sz="1600">
                <a:solidFill>
                  <a:srgbClr val="F78C6C"/>
                </a:solidFill>
                <a:latin typeface="Consolas"/>
              </a:rPr>
              <a:t>12.</a:t>
            </a:r>
            <a:r>
              <a:rPr sz="1600">
                <a:solidFill>
                  <a:srgbClr val="EEFFFF"/>
                </a:solidFill>
                <a:latin typeface="Consolas"/>
              </a:rPr>
              <a:t>is_odd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