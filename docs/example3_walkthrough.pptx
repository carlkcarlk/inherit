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43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7616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6446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We want to union any number of sets (</a:t>
            </a:r>
            <a:r>
              <a:rPr sz="1600">
                <a:solidFill>
                  <a:srgbClr val="FFFFFF"/>
                </a:solidFill>
                <a:latin typeface="Consolas"/>
              </a:rPr>
              <a:t>RangeSetBlaze&lt;T&gt;</a:t>
            </a:r>
            <a:r>
              <a:rPr sz="1600">
                <a:solidFill>
                  <a:srgbClr val="E6E6E6"/>
                </a:solidFill>
                <a:latin typeface="Aptos"/>
              </a:rPr>
              <a:t>). In OO terms, any collection that is an iterable of </a:t>
            </a:r>
            <a:r>
              <a:rPr sz="1600">
                <a:solidFill>
                  <a:srgbClr val="FFFFFF"/>
                </a:solidFill>
                <a:latin typeface="Consolas"/>
              </a:rPr>
              <a:t>RangeSetBlaze&lt;T&gt;</a:t>
            </a:r>
            <a:r>
              <a:rPr sz="1600">
                <a:solidFill>
                  <a:srgbClr val="E6E6E6"/>
                </a:solidFill>
                <a:latin typeface="Aptos"/>
              </a:rPr>
              <a:t> references should inherit this operation.</a:t>
            </a:r>
          </a:p>
        </p:txBody>
      </p:sp>
      <p:pic>
        <p:nvPicPr>
          <p:cNvPr id="6" name="Picture 5" descr="3_puzzl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34" y="1691640"/>
            <a:ext cx="667753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use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std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collections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BTreeSet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For this example, use u64 as our stand-in integer type.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type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Integer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=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u64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Mock up RangeSetBlaze as a BTreeSet wrapper for demo purposes.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#[</a:t>
            </a:r>
            <a:r>
              <a:rPr sz="1600">
                <a:solidFill>
                  <a:srgbClr val="6A9955"/>
                </a:solidFill>
                <a:latin typeface="Consolas"/>
              </a:rPr>
              <a:t>derive(Debug, Clone, PartialEq, Eq)</a:t>
            </a:r>
            <a:r>
              <a:rPr sz="1600">
                <a:solidFill>
                  <a:srgbClr val="6A9955"/>
                </a:solidFill>
                <a:latin typeface="Consolas"/>
              </a:rPr>
              <a:t>]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struct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RangeSetBlaze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values</a:t>
            </a:r>
            <a:r>
              <a:rPr sz="1600">
                <a:solidFill>
                  <a:srgbClr val="DCDCDC"/>
                </a:solidFill>
                <a:latin typeface="Consolas"/>
              </a:rPr>
              <a:t>: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BTreeSet</a:t>
            </a:r>
            <a:r>
              <a:rPr sz="1600">
                <a:solidFill>
                  <a:srgbClr val="DCDCDC"/>
                </a:solidFill>
                <a:latin typeface="Consolas"/>
              </a:rPr>
              <a:t>&lt;</a:t>
            </a:r>
            <a:r>
              <a:rPr sz="1600">
                <a:solidFill>
                  <a:srgbClr val="DCDCDC"/>
                </a:solidFill>
                <a:latin typeface="Consolas"/>
              </a:rPr>
              <a:t>Integer</a:t>
            </a:r>
            <a:r>
              <a:rPr sz="1600">
                <a:solidFill>
                  <a:srgbClr val="DCDCDC"/>
                </a:solidFill>
                <a:latin typeface="Consolas"/>
              </a:rPr>
              <a:t>&gt;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impl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RangeSetBlaze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new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-&gt;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    </a:t>
            </a:r>
            <a:r>
              <a:rPr sz="1600">
                <a:solidFill>
                  <a:srgbClr val="DCDCDC"/>
                </a:solidFill>
                <a:latin typeface="Consolas"/>
              </a:rPr>
              <a:t>values</a:t>
            </a:r>
            <a:r>
              <a:rPr sz="1600">
                <a:solidFill>
                  <a:srgbClr val="DCDCDC"/>
                </a:solidFill>
                <a:latin typeface="Consolas"/>
              </a:rPr>
              <a:t>: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BTreeSet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new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Construct from a slice of Integer values.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from_slice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values</a:t>
            </a:r>
            <a:r>
              <a:rPr sz="1600">
                <a:solidFill>
                  <a:srgbClr val="DCDCDC"/>
                </a:solidFill>
                <a:latin typeface="Consolas"/>
              </a:rPr>
              <a:t>: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[</a:t>
            </a:r>
            <a:r>
              <a:rPr sz="1600">
                <a:solidFill>
                  <a:srgbClr val="DCDCDC"/>
                </a:solidFill>
                <a:latin typeface="Consolas"/>
              </a:rPr>
              <a:t>Integer</a:t>
            </a:r>
            <a:r>
              <a:rPr sz="1600">
                <a:solidFill>
                  <a:srgbClr val="DCDCDC"/>
                </a:solidFill>
                <a:latin typeface="Consolas"/>
              </a:rPr>
              <a:t>]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-&gt;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    </a:t>
            </a:r>
            <a:r>
              <a:rPr sz="1600">
                <a:solidFill>
                  <a:srgbClr val="DCDCDC"/>
                </a:solidFill>
                <a:latin typeface="Consolas"/>
              </a:rPr>
              <a:t>values</a:t>
            </a:r>
            <a:r>
              <a:rPr sz="1600">
                <a:solidFill>
                  <a:srgbClr val="DCDCDC"/>
                </a:solidFill>
                <a:latin typeface="Consolas"/>
              </a:rPr>
              <a:t>: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values</a:t>
            </a:r>
            <a:r>
              <a:rPr sz="1600">
                <a:solidFill>
                  <a:srgbClr val="DCDCDC"/>
                </a:solidFill>
                <a:latin typeface="Consolas"/>
              </a:rPr>
              <a:t>.</a:t>
            </a:r>
            <a:r>
              <a:rPr sz="1600">
                <a:solidFill>
                  <a:srgbClr val="DCDCDC"/>
                </a:solidFill>
                <a:latin typeface="Consolas"/>
              </a:rPr>
              <a:t>iter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.</a:t>
            </a:r>
            <a:r>
              <a:rPr sz="1600">
                <a:solidFill>
                  <a:srgbClr val="DCDCDC"/>
                </a:solidFill>
                <a:latin typeface="Consolas"/>
              </a:rPr>
              <a:t>copied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.</a:t>
            </a:r>
            <a:r>
              <a:rPr sz="1600">
                <a:solidFill>
                  <a:srgbClr val="DCDCDC"/>
                </a:solidFill>
                <a:latin typeface="Consolas"/>
              </a:rPr>
              <a:t>collect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Return a new set that is the union of two borrowed sets.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union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other</a:t>
            </a:r>
            <a:r>
              <a:rPr sz="1600">
                <a:solidFill>
                  <a:srgbClr val="DCDCDC"/>
                </a:solidFill>
                <a:latin typeface="Consolas"/>
              </a:rPr>
              <a:t>: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&amp;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-&gt;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    </a:t>
            </a:r>
            <a:r>
              <a:rPr sz="1600">
                <a:solidFill>
                  <a:srgbClr val="DCDCDC"/>
                </a:solidFill>
                <a:latin typeface="Consolas"/>
              </a:rPr>
              <a:t>values</a:t>
            </a:r>
            <a:r>
              <a:rPr sz="1600">
                <a:solidFill>
                  <a:srgbClr val="DCDCDC"/>
                </a:solidFill>
                <a:latin typeface="Consolas"/>
              </a:rPr>
              <a:t>: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.</a:t>
            </a:r>
            <a:r>
              <a:rPr sz="1600">
                <a:solidFill>
                  <a:srgbClr val="DCDCDC"/>
                </a:solidFill>
                <a:latin typeface="Consolas"/>
              </a:rPr>
              <a:t>values</a:t>
            </a:r>
            <a:r>
              <a:rPr sz="1600">
                <a:solidFill>
                  <a:srgbClr val="DCDCDC"/>
                </a:solidFill>
                <a:latin typeface="Consolas"/>
              </a:rPr>
              <a:t>.</a:t>
            </a:r>
            <a:r>
              <a:rPr sz="1600">
                <a:solidFill>
                  <a:srgbClr val="C586C0"/>
                </a:solidFill>
                <a:latin typeface="Consolas"/>
              </a:rPr>
              <a:t>union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other</a:t>
            </a:r>
            <a:r>
              <a:rPr sz="1600">
                <a:solidFill>
                  <a:srgbClr val="DCDCDC"/>
                </a:solidFill>
                <a:latin typeface="Consolas"/>
              </a:rPr>
              <a:t>.</a:t>
            </a:r>
            <a:r>
              <a:rPr sz="1600">
                <a:solidFill>
                  <a:srgbClr val="DCDCDC"/>
                </a:solidFill>
                <a:latin typeface="Consolas"/>
              </a:rPr>
              <a:t>values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.</a:t>
            </a:r>
            <a:r>
              <a:rPr sz="1600">
                <a:solidFill>
                  <a:srgbClr val="DCDCDC"/>
                </a:solidFill>
                <a:latin typeface="Consolas"/>
              </a:rPr>
              <a:t>copied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.</a:t>
            </a:r>
            <a:r>
              <a:rPr sz="1600">
                <a:solidFill>
                  <a:srgbClr val="DCDCDC"/>
                </a:solidFill>
                <a:latin typeface="Consolas"/>
              </a:rPr>
              <a:t>collect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is_empty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-&gt;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bool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.</a:t>
            </a:r>
            <a:r>
              <a:rPr sz="1600">
                <a:solidFill>
                  <a:srgbClr val="DCDCDC"/>
                </a:solidFill>
                <a:latin typeface="Consolas"/>
              </a:rPr>
              <a:t>values</a:t>
            </a:r>
            <a:r>
              <a:rPr sz="1600">
                <a:solidFill>
                  <a:srgbClr val="DCDCDC"/>
                </a:solidFill>
                <a:latin typeface="Consolas"/>
              </a:rPr>
              <a:t>.</a:t>
            </a:r>
            <a:r>
              <a:rPr sz="1600">
                <a:solidFill>
                  <a:srgbClr val="DCDCDC"/>
                </a:solidFill>
                <a:latin typeface="Consolas"/>
              </a:rPr>
              <a:t>is_empty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A RangeSetCollection is any type that can be turned into an iterator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over borrowed RangeSetBlaze values.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"blanket implementation".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One impl applies to every type that matches the bound.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trait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RangeSetCollection</a:t>
            </a:r>
            <a:r>
              <a:rPr sz="1600">
                <a:solidFill>
                  <a:srgbClr val="DCDCDC"/>
                </a:solidFill>
                <a:latin typeface="Consolas"/>
              </a:rPr>
              <a:t>&lt;</a:t>
            </a:r>
            <a:r>
              <a:rPr sz="1600">
                <a:solidFill>
                  <a:srgbClr val="DCDCDC"/>
                </a:solidFill>
                <a:latin typeface="Consolas"/>
              </a:rPr>
              <a:t>'</a:t>
            </a:r>
            <a:r>
              <a:rPr sz="1600">
                <a:solidFill>
                  <a:srgbClr val="DCDCDC"/>
                </a:solidFill>
                <a:latin typeface="Consolas"/>
              </a:rPr>
              <a:t>a</a:t>
            </a:r>
            <a:r>
              <a:rPr sz="1600">
                <a:solidFill>
                  <a:srgbClr val="DCDCDC"/>
                </a:solidFill>
                <a:latin typeface="Consolas"/>
              </a:rPr>
              <a:t>&gt;</a:t>
            </a:r>
            <a:r>
              <a:rPr sz="1600">
                <a:solidFill>
                  <a:srgbClr val="DCDCDC"/>
                </a:solidFill>
                <a:latin typeface="Consolas"/>
              </a:rPr>
              <a:t>: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IntoIterator</a:t>
            </a:r>
            <a:r>
              <a:rPr sz="1600">
                <a:solidFill>
                  <a:srgbClr val="DCDCDC"/>
                </a:solidFill>
                <a:latin typeface="Consolas"/>
              </a:rPr>
              <a:t>&lt;</a:t>
            </a:r>
            <a:r>
              <a:rPr sz="1600">
                <a:solidFill>
                  <a:srgbClr val="DCDCDC"/>
                </a:solidFill>
                <a:latin typeface="Consolas"/>
              </a:rPr>
              <a:t>Item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=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'</a:t>
            </a:r>
            <a:r>
              <a:rPr sz="1600">
                <a:solidFill>
                  <a:srgbClr val="DCDCDC"/>
                </a:solidFill>
                <a:latin typeface="Consolas"/>
              </a:rPr>
              <a:t>a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RangeSetBlaze</a:t>
            </a:r>
            <a:r>
              <a:rPr sz="1600">
                <a:solidFill>
                  <a:srgbClr val="DCDCDC"/>
                </a:solidFill>
                <a:latin typeface="Consolas"/>
              </a:rPr>
              <a:t>&gt;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union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-&gt;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RangeSetBlaze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where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: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Sized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C586C0"/>
                </a:solidFill>
                <a:latin typeface="Consolas"/>
              </a:rPr>
              <a:t>let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mut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result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=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RangeSetBlaze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new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C586C0"/>
                </a:solidFill>
                <a:latin typeface="Consolas"/>
              </a:rPr>
              <a:t>for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set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in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    </a:t>
            </a:r>
            <a:r>
              <a:rPr sz="1600">
                <a:solidFill>
                  <a:srgbClr val="DCDCDC"/>
                </a:solidFill>
                <a:latin typeface="Consolas"/>
              </a:rPr>
              <a:t>result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=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RangeSetBlaze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C586C0"/>
                </a:solidFill>
                <a:latin typeface="Consolas"/>
              </a:rPr>
              <a:t>union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result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set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DCDCDC"/>
                </a:solidFill>
                <a:latin typeface="Consolas"/>
              </a:rPr>
              <a:t>result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Blanket implementation: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Any type that can be turned into an iterator over &amp;RangeSetBlaze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automatically implements RangeSetCollection.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impl</a:t>
            </a:r>
            <a:r>
              <a:rPr sz="1600">
                <a:solidFill>
                  <a:srgbClr val="DCDCDC"/>
                </a:solidFill>
                <a:latin typeface="Consolas"/>
              </a:rPr>
              <a:t>&lt;</a:t>
            </a:r>
            <a:r>
              <a:rPr sz="1600">
                <a:solidFill>
                  <a:srgbClr val="DCDCDC"/>
                </a:solidFill>
                <a:latin typeface="Consolas"/>
              </a:rPr>
              <a:t>'</a:t>
            </a:r>
            <a:r>
              <a:rPr sz="1600">
                <a:solidFill>
                  <a:srgbClr val="DCDCDC"/>
                </a:solidFill>
                <a:latin typeface="Consolas"/>
              </a:rPr>
              <a:t>a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I</a:t>
            </a:r>
            <a:r>
              <a:rPr sz="1600">
                <a:solidFill>
                  <a:srgbClr val="DCDCDC"/>
                </a:solidFill>
                <a:latin typeface="Consolas"/>
              </a:rPr>
              <a:t>&gt;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RangeSetCollection</a:t>
            </a:r>
            <a:r>
              <a:rPr sz="1600">
                <a:solidFill>
                  <a:srgbClr val="DCDCDC"/>
                </a:solidFill>
                <a:latin typeface="Consolas"/>
              </a:rPr>
              <a:t>&lt;</a:t>
            </a:r>
            <a:r>
              <a:rPr sz="1600">
                <a:solidFill>
                  <a:srgbClr val="DCDCDC"/>
                </a:solidFill>
                <a:latin typeface="Consolas"/>
              </a:rPr>
              <a:t>'</a:t>
            </a:r>
            <a:r>
              <a:rPr sz="1600">
                <a:solidFill>
                  <a:srgbClr val="DCDCDC"/>
                </a:solidFill>
                <a:latin typeface="Consolas"/>
              </a:rPr>
              <a:t>a</a:t>
            </a:r>
            <a:r>
              <a:rPr sz="1600">
                <a:solidFill>
                  <a:srgbClr val="DCDCDC"/>
                </a:solidFill>
                <a:latin typeface="Consolas"/>
              </a:rPr>
              <a:t>&gt;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for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I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where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I</a:t>
            </a:r>
            <a:r>
              <a:rPr sz="1600">
                <a:solidFill>
                  <a:srgbClr val="DCDCDC"/>
                </a:solidFill>
                <a:latin typeface="Consolas"/>
              </a:rPr>
              <a:t>: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IntoIterator</a:t>
            </a:r>
            <a:r>
              <a:rPr sz="1600">
                <a:solidFill>
                  <a:srgbClr val="DCDCDC"/>
                </a:solidFill>
                <a:latin typeface="Consolas"/>
              </a:rPr>
              <a:t>&lt;</a:t>
            </a:r>
            <a:r>
              <a:rPr sz="1600">
                <a:solidFill>
                  <a:srgbClr val="DCDCDC"/>
                </a:solidFill>
                <a:latin typeface="Consolas"/>
              </a:rPr>
              <a:t>Item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=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'</a:t>
            </a:r>
            <a:r>
              <a:rPr sz="1600">
                <a:solidFill>
                  <a:srgbClr val="DCDCDC"/>
                </a:solidFill>
                <a:latin typeface="Consolas"/>
              </a:rPr>
              <a:t>a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RangeSetBlaze</a:t>
            </a:r>
            <a:r>
              <a:rPr sz="1600">
                <a:solidFill>
                  <a:srgbClr val="DCDCDC"/>
                </a:solidFill>
                <a:latin typeface="Consolas"/>
              </a:rPr>
              <a:t>&gt;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main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let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a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=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RangeSetBlaze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from_slice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[</a:t>
            </a:r>
            <a:r>
              <a:rPr sz="1600">
                <a:solidFill>
                  <a:srgbClr val="B5CEA8"/>
                </a:solidFill>
                <a:latin typeface="Consolas"/>
              </a:rPr>
              <a:t>1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2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3</a:t>
            </a:r>
            <a:r>
              <a:rPr sz="1600">
                <a:solidFill>
                  <a:srgbClr val="DCDCDC"/>
                </a:solidFill>
                <a:latin typeface="Consolas"/>
              </a:rPr>
              <a:t>]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let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b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=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RangeSetBlaze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from_slice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[</a:t>
            </a:r>
            <a:r>
              <a:rPr sz="1600">
                <a:solidFill>
                  <a:srgbClr val="B5CEA8"/>
                </a:solidFill>
                <a:latin typeface="Consolas"/>
              </a:rPr>
              <a:t>3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4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5</a:t>
            </a:r>
            <a:r>
              <a:rPr sz="1600">
                <a:solidFill>
                  <a:srgbClr val="DCDCDC"/>
                </a:solidFill>
                <a:latin typeface="Consolas"/>
              </a:rPr>
              <a:t>]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let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c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=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RangeSetBlaze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from_slice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[</a:t>
            </a:r>
            <a:r>
              <a:rPr sz="1600">
                <a:solidFill>
                  <a:srgbClr val="B5CEA8"/>
                </a:solidFill>
                <a:latin typeface="Consolas"/>
              </a:rPr>
              <a:t>5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7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9</a:t>
            </a:r>
            <a:r>
              <a:rPr sz="1600">
                <a:solidFill>
                  <a:srgbClr val="DCDCDC"/>
                </a:solidFill>
                <a:latin typeface="Consolas"/>
              </a:rPr>
              <a:t>]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let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expected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=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RangeSetBlaze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from_slice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[</a:t>
            </a:r>
            <a:r>
              <a:rPr sz="1600">
                <a:solidFill>
                  <a:srgbClr val="B5CEA8"/>
                </a:solidFill>
                <a:latin typeface="Consolas"/>
              </a:rPr>
              <a:t>1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2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3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4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5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7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9</a:t>
            </a:r>
            <a:r>
              <a:rPr sz="1600">
                <a:solidFill>
                  <a:srgbClr val="DCDCDC"/>
                </a:solidFill>
                <a:latin typeface="Consolas"/>
              </a:rPr>
              <a:t>]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A vector of sets can be unioned together.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AA"/>
                </a:solidFill>
                <a:latin typeface="Consolas"/>
              </a:rPr>
              <a:t>assert_eq!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AA"/>
                </a:solidFill>
                <a:latin typeface="Consolas"/>
              </a:rPr>
              <a:t>vec!</a:t>
            </a:r>
            <a:r>
              <a:rPr sz="1600">
                <a:solidFill>
                  <a:srgbClr val="DCDCDC"/>
                </a:solidFill>
                <a:latin typeface="Consolas"/>
              </a:rPr>
              <a:t>[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a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b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c</a:t>
            </a:r>
            <a:r>
              <a:rPr sz="1600">
                <a:solidFill>
                  <a:srgbClr val="DCDCDC"/>
                </a:solidFill>
                <a:latin typeface="Consolas"/>
              </a:rPr>
              <a:t>]</a:t>
            </a:r>
            <a:r>
              <a:rPr sz="1600">
                <a:solidFill>
                  <a:srgbClr val="DCDCDC"/>
                </a:solidFill>
                <a:latin typeface="Consolas"/>
              </a:rPr>
              <a:t>.</a:t>
            </a:r>
            <a:r>
              <a:rPr sz="1600">
                <a:solidFill>
                  <a:srgbClr val="C586C0"/>
                </a:solidFill>
                <a:latin typeface="Consolas"/>
              </a:rPr>
              <a:t>union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expected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An array of sets can be unioned together.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AA"/>
                </a:solidFill>
                <a:latin typeface="Consolas"/>
              </a:rPr>
              <a:t>assert_eq!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[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a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b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c</a:t>
            </a:r>
            <a:r>
              <a:rPr sz="1600">
                <a:solidFill>
                  <a:srgbClr val="DCDCDC"/>
                </a:solidFill>
                <a:latin typeface="Consolas"/>
              </a:rPr>
              <a:t>]</a:t>
            </a:r>
            <a:r>
              <a:rPr sz="1600">
                <a:solidFill>
                  <a:srgbClr val="DCDCDC"/>
                </a:solidFill>
                <a:latin typeface="Consolas"/>
              </a:rPr>
              <a:t>.</a:t>
            </a:r>
            <a:r>
              <a:rPr sz="1600">
                <a:solidFill>
                  <a:srgbClr val="C586C0"/>
                </a:solidFill>
                <a:latin typeface="Consolas"/>
              </a:rPr>
              <a:t>union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expected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A filtered option can be unioned.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AA"/>
                </a:solidFill>
                <a:latin typeface="Consolas"/>
              </a:rPr>
              <a:t>assert_eq!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4EC9B0"/>
                </a:solidFill>
                <a:latin typeface="Consolas"/>
              </a:rPr>
              <a:t>Some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a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.</a:t>
            </a:r>
            <a:r>
              <a:rPr sz="1600">
                <a:solidFill>
                  <a:srgbClr val="DCDCDC"/>
                </a:solidFill>
                <a:latin typeface="Consolas"/>
              </a:rPr>
              <a:t>filter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|</a:t>
            </a:r>
            <a:r>
              <a:rPr sz="1600">
                <a:solidFill>
                  <a:srgbClr val="DCDCDC"/>
                </a:solidFill>
                <a:latin typeface="Consolas"/>
              </a:rPr>
              <a:t>set</a:t>
            </a:r>
            <a:r>
              <a:rPr sz="1600">
                <a:solidFill>
                  <a:srgbClr val="DCDCDC"/>
                </a:solidFill>
                <a:latin typeface="Consolas"/>
              </a:rPr>
              <a:t>|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!</a:t>
            </a:r>
            <a:r>
              <a:rPr sz="1600">
                <a:solidFill>
                  <a:srgbClr val="DCDCDC"/>
                </a:solidFill>
                <a:latin typeface="Consolas"/>
              </a:rPr>
              <a:t>set</a:t>
            </a:r>
            <a:r>
              <a:rPr sz="1600">
                <a:solidFill>
                  <a:srgbClr val="DCDCDC"/>
                </a:solidFill>
                <a:latin typeface="Consolas"/>
              </a:rPr>
              <a:t>.</a:t>
            </a:r>
            <a:r>
              <a:rPr sz="1600">
                <a:solidFill>
                  <a:srgbClr val="DCDCDC"/>
                </a:solidFill>
                <a:latin typeface="Consolas"/>
              </a:rPr>
              <a:t>is_empty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.</a:t>
            </a:r>
            <a:r>
              <a:rPr sz="1600">
                <a:solidFill>
                  <a:srgbClr val="C586C0"/>
                </a:solidFill>
                <a:latin typeface="Consolas"/>
              </a:rPr>
              <a:t>union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a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