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543800" y="0"/>
            <a:ext cx="1600200" cy="6858000"/>
          </a:xfrm>
          <a:prstGeom prst="rect">
            <a:avLst/>
          </a:prstGeom>
          <a:solidFill>
            <a:srgbClr val="FAFAFA"/>
          </a:solidFill>
          <a:ln w="9525">
            <a:solidFill>
              <a:srgbClr val="DCDC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 rot="16200000">
            <a:off x="7616952" y="274320"/>
            <a:ext cx="1453896" cy="6309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defRPr sz="2600">
                <a:solidFill>
                  <a:srgbClr val="141414"/>
                </a:solidFill>
                <a:latin typeface="Aptos"/>
              </a:defRPr>
            </a:pPr>
            <a:r>
              <a:t>Puzzle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"/>
            <a:ext cx="64465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E6E6E6"/>
                </a:solidFill>
                <a:latin typeface="Aptos"/>
              </a:rPr>
              <a:t>We want an </a:t>
            </a:r>
            <a:r>
              <a:rPr sz="1600">
                <a:solidFill>
                  <a:srgbClr val="FFFFFF"/>
                </a:solidFill>
                <a:latin typeface="Consolas"/>
              </a:rPr>
              <a:t>HtmlBuffer</a:t>
            </a:r>
            <a:r>
              <a:rPr sz="1600">
                <a:solidFill>
                  <a:srgbClr val="E6E6E6"/>
                </a:solidFill>
                <a:latin typeface="Aptos"/>
              </a:rPr>
              <a:t> to feel like a string for everyday method calls, while still being its own distinct type. Note that </a:t>
            </a:r>
            <a:r>
              <a:rPr sz="1600">
                <a:solidFill>
                  <a:srgbClr val="FFFFFF"/>
                </a:solidFill>
                <a:latin typeface="Consolas"/>
              </a:rPr>
              <a:t>String</a:t>
            </a:r>
            <a:r>
              <a:rPr sz="1600">
                <a:solidFill>
                  <a:srgbClr val="E6E6E6"/>
                </a:solidFill>
                <a:latin typeface="Aptos"/>
              </a:rPr>
              <a:t> is a concrete type with storage, not just an interface/trait/abstract base class.</a:t>
            </a:r>
          </a:p>
        </p:txBody>
      </p:sp>
      <p:pic>
        <p:nvPicPr>
          <p:cNvPr id="6" name="Picture 5" descr="6_puzzl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6213" y="1691640"/>
            <a:ext cx="2331373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use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std</a:t>
            </a:r>
            <a:r>
              <a:rPr sz="1600">
                <a:solidFill>
                  <a:srgbClr val="EEFFFF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ops</a:t>
            </a:r>
            <a:r>
              <a:rPr sz="1600">
                <a:solidFill>
                  <a:srgbClr val="EEFFFF"/>
                </a:solidFill>
                <a:latin typeface="Consolas"/>
              </a:rPr>
              <a:t>:</a:t>
            </a:r>
            <a:r>
              <a:rPr sz="1600">
                <a:solidFill>
                  <a:srgbClr val="EEFFFF"/>
                </a:solidFill>
                <a:latin typeface="Consolas"/>
              </a:rPr>
              <a:t>: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  <a:r>
              <a:rPr sz="1600">
                <a:solidFill>
                  <a:srgbClr val="EEFFFF"/>
                </a:solidFill>
                <a:latin typeface="Consolas"/>
              </a:rPr>
              <a:t>Deref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DerefMut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struct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HtmlBuffer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EEFFFF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Deref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Use when you want wrapper ergonomics that mostly feel like the inner type.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type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FCB6B"/>
                </a:solidFill>
                <a:latin typeface="Consolas"/>
              </a:rPr>
              <a:t>Target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String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deref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Target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impl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DerefMut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for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deref_mut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-&gt;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&amp;</a:t>
            </a:r>
            <a:r>
              <a:rPr sz="1600">
                <a:solidFill>
                  <a:srgbClr val="FFCB6B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EEFFFF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Target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    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self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F78C6C"/>
                </a:solidFill>
                <a:latin typeface="Consolas"/>
              </a:rPr>
              <a:t>0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TECHNIQUE NAME: deref lookup.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64592" y="109728"/>
            <a:ext cx="8814816" cy="66385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C792EA"/>
                </a:solidFill>
                <a:latin typeface="Consolas"/>
              </a:rPr>
              <a:t>fn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2AAFF"/>
                </a:solidFill>
                <a:latin typeface="Consolas"/>
              </a:rPr>
              <a:t>main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BAC2DE"/>
                </a:solidFill>
                <a:latin typeface="Consolas"/>
              </a:rPr>
              <a:t>{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C792EA"/>
                </a:solidFill>
                <a:latin typeface="Consolas"/>
              </a:rPr>
              <a:t>let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792EA"/>
                </a:solidFill>
                <a:latin typeface="Consolas"/>
              </a:rPr>
              <a:t>mut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89DDFF"/>
                </a:solidFill>
                <a:latin typeface="Consolas"/>
              </a:rPr>
              <a:t>=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EEFFFF"/>
                </a:solidFill>
                <a:latin typeface="Consolas"/>
              </a:rPr>
              <a:t>HtmlBuffer</a:t>
            </a:r>
            <a:r>
              <a:rPr sz="1600">
                <a:solidFill>
                  <a:srgbClr val="EEFFFF"/>
                </a:solidFill>
                <a:latin typeface="Consolas"/>
              </a:rPr>
              <a:t>::</a:t>
            </a:r>
            <a:r>
              <a:rPr sz="1600">
                <a:solidFill>
                  <a:srgbClr val="EEFFFF"/>
                </a:solidFill>
                <a:latin typeface="Consolas"/>
              </a:rPr>
              <a:t>new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`push_str` and `len` are String methods found via deref lookup.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push_str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&lt;h1&gt;Hello&lt;/h1&gt;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push_str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&lt;p&gt;Rust&lt;/p&gt;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.</a:t>
            </a:r>
            <a:r>
              <a:rPr sz="1600">
                <a:solidFill>
                  <a:srgbClr val="EEFFFF"/>
                </a:solidFill>
                <a:latin typeface="Consolas"/>
              </a:rPr>
              <a:t>len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F78C6C"/>
                </a:solidFill>
                <a:latin typeface="Consolas"/>
              </a:rPr>
              <a:t>25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6A9955"/>
                </a:solidFill>
                <a:latin typeface="Consolas"/>
              </a:rPr>
              <a:t>// Borrow the thing `page` points to and compare.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EFFFF"/>
                </a:solidFill>
                <a:latin typeface="Consolas"/>
              </a:rPr>
              <a:t>    </a:t>
            </a:r>
            <a:r>
              <a:rPr sz="1600">
                <a:solidFill>
                  <a:srgbClr val="82AAFF"/>
                </a:solidFill>
                <a:latin typeface="Consolas"/>
              </a:rPr>
              <a:t>assert_eq!</a:t>
            </a:r>
            <a:r>
              <a:rPr sz="1600">
                <a:solidFill>
                  <a:srgbClr val="BAC2DE"/>
                </a:solidFill>
                <a:latin typeface="Consolas"/>
              </a:rPr>
              <a:t>(</a:t>
            </a:r>
            <a:r>
              <a:rPr sz="1600">
                <a:solidFill>
                  <a:srgbClr val="89DDFF"/>
                </a:solidFill>
                <a:latin typeface="Consolas"/>
              </a:rPr>
              <a:t>&amp;</a:t>
            </a:r>
            <a:r>
              <a:rPr sz="1600">
                <a:solidFill>
                  <a:srgbClr val="89DDFF"/>
                </a:solidFill>
                <a:latin typeface="Consolas"/>
              </a:rPr>
              <a:t>*</a:t>
            </a:r>
            <a:r>
              <a:rPr sz="1600">
                <a:solidFill>
                  <a:srgbClr val="EEFFFF"/>
                </a:solidFill>
                <a:latin typeface="Consolas"/>
              </a:rPr>
              <a:t>page</a:t>
            </a:r>
            <a:r>
              <a:rPr sz="1600">
                <a:solidFill>
                  <a:srgbClr val="BAC2DE"/>
                </a:solidFill>
                <a:latin typeface="Consolas"/>
              </a:rPr>
              <a:t>,</a:t>
            </a:r>
            <a:r>
              <a:rPr sz="1600">
                <a:solidFill>
                  <a:srgbClr val="EEFFFF"/>
                </a:solidFill>
                <a:latin typeface="Consolas"/>
              </a:rPr>
              <a:t> 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C3E88D"/>
                </a:solidFill>
                <a:latin typeface="Consolas"/>
              </a:rPr>
              <a:t>&lt;h1&gt;Hello&lt;/h1&gt;&lt;p&gt;Rust&lt;/p&gt;</a:t>
            </a:r>
            <a:r>
              <a:rPr sz="1600">
                <a:solidFill>
                  <a:srgbClr val="C3E88D"/>
                </a:solidFill>
                <a:latin typeface="Consolas"/>
              </a:rPr>
              <a:t>"</a:t>
            </a:r>
            <a:r>
              <a:rPr sz="1600">
                <a:solidFill>
                  <a:srgbClr val="BAC2DE"/>
                </a:solidFill>
                <a:latin typeface="Consolas"/>
              </a:rPr>
              <a:t>)</a:t>
            </a:r>
            <a:r>
              <a:rPr sz="1600">
                <a:solidFill>
                  <a:srgbClr val="BAC2DE"/>
                </a:solidFill>
                <a:latin typeface="Consolas"/>
              </a:rPr>
              <a:t>;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BAC2DE"/>
                </a:solidFill>
                <a:latin typeface="Consolas"/>
              </a:rPr>
              <a:t>}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Good for `Box`, `Rc`, etc., but not really good here.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A9955"/>
                </a:solidFill>
                <a:latin typeface="Consolas"/>
              </a:rPr>
              <a:t>// Also see AsRef, From, and Borrow traits.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