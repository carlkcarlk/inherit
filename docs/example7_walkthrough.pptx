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to add a new method </a:t>
            </a:r>
            <a:r>
              <a:rPr sz="1600">
                <a:solidFill>
                  <a:srgbClr val="FFFFFF"/>
                </a:solidFill>
                <a:latin typeface="Consolas"/>
              </a:rPr>
              <a:t>is_odd()</a:t>
            </a:r>
            <a:r>
              <a:rPr sz="1600">
                <a:solidFill>
                  <a:srgbClr val="E6E6E6"/>
                </a:solidFill>
                <a:latin typeface="Aptos"/>
              </a:rPr>
              <a:t> to an existing concrete type </a:t>
            </a:r>
            <a:r>
              <a:rPr sz="1600">
                <a:solidFill>
                  <a:srgbClr val="FFFFFF"/>
                </a:solidFill>
                <a:latin typeface="Consolas"/>
              </a:rPr>
              <a:t>usize</a:t>
            </a:r>
            <a:r>
              <a:rPr sz="1600">
                <a:solidFill>
                  <a:srgbClr val="E6E6E6"/>
                </a:solidFill>
                <a:latin typeface="Aptos"/>
              </a:rPr>
              <a:t>, even though we do not own that type.</a:t>
            </a:r>
          </a:p>
        </p:txBody>
      </p:sp>
      <p:pic>
        <p:nvPicPr>
          <p:cNvPr id="6" name="Picture 5" descr="7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291" y="1691640"/>
            <a:ext cx="376521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UsizeExtensions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UsizeExtensions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extension traits.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count</a:t>
            </a:r>
            <a:r>
              <a:rPr sz="1600">
                <a:solidFill>
                  <a:srgbClr val="EEFFFF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count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F78C6C"/>
                </a:solidFill>
                <a:latin typeface="Consolas"/>
              </a:rPr>
              <a:t>12.</a:t>
            </a:r>
            <a:r>
              <a:rPr sz="1600">
                <a:solidFill>
                  <a:srgbClr val="EEFF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