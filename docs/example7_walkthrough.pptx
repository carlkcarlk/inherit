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43800" y="0"/>
            <a:ext cx="1600200" cy="6858000"/>
          </a:xfrm>
          <a:prstGeom prst="rect">
            <a:avLst/>
          </a:prstGeom>
          <a:solidFill>
            <a:srgbClr val="FAFA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 rot="16200000">
            <a:off x="7616952" y="274320"/>
            <a:ext cx="1453896" cy="6309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>
                <a:solidFill>
                  <a:srgbClr val="141414"/>
                </a:solidFill>
                <a:latin typeface="Aptos"/>
              </a:defRPr>
            </a:pPr>
            <a:r>
              <a:t>Puzzle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6446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E6"/>
                </a:solidFill>
                <a:latin typeface="Aptos"/>
              </a:rPr>
              <a:t>Treat 15 integer-like types uniformly: </a:t>
            </a:r>
            <a:r>
              <a:rPr sz="1600">
                <a:solidFill>
                  <a:srgbClr val="FFFFFF"/>
                </a:solidFill>
                <a:latin typeface="Consolas"/>
              </a:rPr>
              <a:t>u8</a:t>
            </a:r>
            <a:r>
              <a:rPr sz="1600">
                <a:solidFill>
                  <a:srgbClr val="E6E6E6"/>
                </a:solidFill>
                <a:latin typeface="Aptos"/>
              </a:rPr>
              <a:t>, ..., </a:t>
            </a:r>
            <a:r>
              <a:rPr sz="1600">
                <a:solidFill>
                  <a:srgbClr val="FFFFFF"/>
                </a:solidFill>
                <a:latin typeface="Consolas"/>
              </a:rPr>
              <a:t>usize</a:t>
            </a:r>
            <a:r>
              <a:rPr sz="1600">
                <a:solidFill>
                  <a:srgbClr val="E6E6E6"/>
                </a:solidFill>
                <a:latin typeface="Aptos"/>
              </a:rPr>
              <a:t>, ...</a:t>
            </a:r>
            <a:r>
              <a:rPr sz="1600">
                <a:solidFill>
                  <a:srgbClr val="FFFFFF"/>
                </a:solidFill>
                <a:latin typeface="Consolas"/>
              </a:rPr>
              <a:t>i128</a:t>
            </a:r>
            <a:r>
              <a:rPr sz="1600">
                <a:solidFill>
                  <a:srgbClr val="E6E6E6"/>
                </a:solidFill>
                <a:latin typeface="Aptos"/>
              </a:rPr>
              <a:t>, </a:t>
            </a:r>
            <a:r>
              <a:rPr sz="1600">
                <a:solidFill>
                  <a:srgbClr val="FFFFFF"/>
                </a:solidFill>
                <a:latin typeface="Consolas"/>
              </a:rPr>
              <a:t>char</a:t>
            </a:r>
            <a:r>
              <a:rPr sz="1600">
                <a:solidFill>
                  <a:srgbClr val="E6E6E6"/>
                </a:solidFill>
                <a:latin typeface="Aptos"/>
              </a:rPr>
              <a:t>, </a:t>
            </a:r>
            <a:r>
              <a:rPr sz="1600">
                <a:solidFill>
                  <a:srgbClr val="FFFFFF"/>
                </a:solidFill>
                <a:latin typeface="Consolas"/>
              </a:rPr>
              <a:t>IPv4</a:t>
            </a:r>
            <a:r>
              <a:rPr sz="1600">
                <a:solidFill>
                  <a:srgbClr val="E6E6E6"/>
                </a:solidFill>
                <a:latin typeface="Aptos"/>
              </a:rPr>
              <a:t>, </a:t>
            </a:r>
            <a:r>
              <a:rPr sz="1600">
                <a:solidFill>
                  <a:srgbClr val="FFFFFF"/>
                </a:solidFill>
                <a:latin typeface="Consolas"/>
              </a:rPr>
              <a:t>IPv6</a:t>
            </a:r>
            <a:r>
              <a:rPr sz="1600">
                <a:solidFill>
                  <a:srgbClr val="E6E6E6"/>
                </a:solidFill>
                <a:latin typeface="Aptos"/>
              </a:rPr>
              <a:t> For example, with a </a:t>
            </a:r>
            <a:r>
              <a:rPr sz="1600">
                <a:solidFill>
                  <a:srgbClr val="FFFFFF"/>
                </a:solidFill>
                <a:latin typeface="Consolas"/>
              </a:rPr>
              <a:t>min</a:t>
            </a:r>
            <a:r>
              <a:rPr sz="1600">
                <a:solidFill>
                  <a:srgbClr val="E6E6E6"/>
                </a:solidFill>
                <a:latin typeface="Aptos"/>
              </a:rPr>
              <a:t>, </a:t>
            </a:r>
            <a:r>
              <a:rPr sz="1600">
                <a:solidFill>
                  <a:srgbClr val="FFFFFF"/>
                </a:solidFill>
                <a:latin typeface="Consolas"/>
              </a:rPr>
              <a:t>max</a:t>
            </a:r>
            <a:r>
              <a:rPr sz="1600">
                <a:solidFill>
                  <a:srgbClr val="E6E6E6"/>
                </a:solidFill>
                <a:latin typeface="Aptos"/>
              </a:rPr>
              <a:t>, and ability to add one (unchecked).</a:t>
            </a:r>
          </a:p>
        </p:txBody>
      </p:sp>
      <p:pic>
        <p:nvPicPr>
          <p:cNvPr id="6" name="Picture 5" descr="7_puzzl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19" y="1691640"/>
            <a:ext cx="6995160" cy="455934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8814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use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std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net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  <a:r>
              <a:rPr sz="1600">
                <a:solidFill>
                  <a:srgbClr val="EEFFFF"/>
                </a:solidFill>
                <a:latin typeface="Consolas"/>
              </a:rPr>
              <a:t>Ipv4Addr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Ipv6Addr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trait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Integer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Copy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+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Ord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add_one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min_value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max_value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82AAFF"/>
                </a:solidFill>
                <a:latin typeface="Consolas"/>
              </a:rPr>
              <a:t>macro_rules!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impl_integer_ops_num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6A9955"/>
                </a:solidFill>
                <a:latin typeface="Consolas"/>
              </a:rPr>
              <a:t>$t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FFCB6B"/>
                </a:solidFill>
                <a:latin typeface="Consolas"/>
              </a:rPr>
              <a:t>ty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add_one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   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+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1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min_value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    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6A9955"/>
                </a:solidFill>
                <a:latin typeface="Consolas"/>
              </a:rPr>
              <a:t>$t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MIN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max_value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    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6A9955"/>
                </a:solidFill>
                <a:latin typeface="Consolas"/>
              </a:rPr>
              <a:t>$t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MAX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82AAFF"/>
                </a:solidFill>
                <a:latin typeface="Consolas"/>
              </a:rPr>
              <a:t>macro_rules!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impl_integer_ops_ip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6A9955"/>
                </a:solidFill>
                <a:latin typeface="Consolas"/>
              </a:rPr>
              <a:t>$ip_type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FFCB6B"/>
                </a:solidFill>
                <a:latin typeface="Consolas"/>
              </a:rPr>
              <a:t>ty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6A9955"/>
                </a:solidFill>
                <a:latin typeface="Consolas"/>
              </a:rPr>
              <a:t>$representation_type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FFCB6B"/>
                </a:solidFill>
                <a:latin typeface="Consolas"/>
              </a:rPr>
              <a:t>ty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8814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add_one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    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6A9955"/>
                </a:solidFill>
                <a:latin typeface="Consolas"/>
              </a:rPr>
              <a:t>$ip_type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from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6A9955"/>
                </a:solidFill>
                <a:latin typeface="Consolas"/>
              </a:rPr>
              <a:t>$representation_type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from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wrapping_add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F78C6C"/>
                </a:solidFill>
                <a:latin typeface="Consolas"/>
              </a:rPr>
              <a:t>1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min_value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    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6A9955"/>
                </a:solidFill>
                <a:latin typeface="Consolas"/>
              </a:rPr>
              <a:t>$ip_type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from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6A9955"/>
                </a:solidFill>
                <a:latin typeface="Consolas"/>
              </a:rPr>
              <a:t>$representation_type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MIN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max_value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    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6A9955"/>
                </a:solidFill>
                <a:latin typeface="Consolas"/>
              </a:rPr>
              <a:t>$ip_type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from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6A9955"/>
                </a:solidFill>
                <a:latin typeface="Consolas"/>
              </a:rPr>
              <a:t>$representation_type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MAX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82AAFF"/>
                </a:solidFill>
                <a:latin typeface="Consolas"/>
              </a:rPr>
              <a:t>macro_rules!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impl_integer_ops_char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add_one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mut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num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u32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from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+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1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    </a:t>
            </a:r>
            <a:r>
              <a:rPr sz="1600">
                <a:solidFill>
                  <a:srgbClr val="C792EA"/>
                </a:solidFill>
                <a:latin typeface="Consolas"/>
              </a:rPr>
              <a:t>if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num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0xD800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        </a:t>
            </a:r>
            <a:r>
              <a:rPr sz="1600">
                <a:solidFill>
                  <a:srgbClr val="EEFFFF"/>
                </a:solidFill>
                <a:latin typeface="Consolas"/>
              </a:rPr>
              <a:t>num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0xE000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    </a:t>
            </a:r>
            <a:r>
              <a:rPr sz="1600">
                <a:solidFill>
                  <a:srgbClr val="C792EA"/>
                </a:solidFill>
                <a:latin typeface="Consolas"/>
              </a:rPr>
              <a:t>char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from_u32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num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unwrap_or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792EA"/>
                </a:solidFill>
                <a:latin typeface="Consolas"/>
              </a:rPr>
              <a:t>char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MIN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min_value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    </a:t>
            </a:r>
            <a:r>
              <a:rPr sz="1600">
                <a:solidFill>
                  <a:srgbClr val="C792EA"/>
                </a:solidFill>
                <a:latin typeface="Consolas"/>
              </a:rPr>
              <a:t>char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8814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max_value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    </a:t>
            </a:r>
            <a:r>
              <a:rPr sz="1600">
                <a:solidFill>
                  <a:srgbClr val="C792EA"/>
                </a:solidFill>
                <a:latin typeface="Consolas"/>
              </a:rPr>
              <a:t>char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MAX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Integer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i8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impl_integer_ops_num</a:t>
            </a:r>
            <a:r>
              <a:rPr sz="1600">
                <a:solidFill>
                  <a:srgbClr val="89DDFF"/>
                </a:solidFill>
                <a:latin typeface="Consolas"/>
              </a:rPr>
              <a:t>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792EA"/>
                </a:solidFill>
                <a:latin typeface="Consolas"/>
              </a:rPr>
              <a:t>i8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Integer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u8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impl_integer_ops_num</a:t>
            </a:r>
            <a:r>
              <a:rPr sz="1600">
                <a:solidFill>
                  <a:srgbClr val="89DDFF"/>
                </a:solidFill>
                <a:latin typeface="Consolas"/>
              </a:rPr>
              <a:t>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792EA"/>
                </a:solidFill>
                <a:latin typeface="Consolas"/>
              </a:rPr>
              <a:t>u8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Integer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i16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impl_integer_ops_num</a:t>
            </a:r>
            <a:r>
              <a:rPr sz="1600">
                <a:solidFill>
                  <a:srgbClr val="89DDFF"/>
                </a:solidFill>
                <a:latin typeface="Consolas"/>
              </a:rPr>
              <a:t>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792EA"/>
                </a:solidFill>
                <a:latin typeface="Consolas"/>
              </a:rPr>
              <a:t>i16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Integer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u16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impl_integer_ops_num</a:t>
            </a:r>
            <a:r>
              <a:rPr sz="1600">
                <a:solidFill>
                  <a:srgbClr val="89DDFF"/>
                </a:solidFill>
                <a:latin typeface="Consolas"/>
              </a:rPr>
              <a:t>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792EA"/>
                </a:solidFill>
                <a:latin typeface="Consolas"/>
              </a:rPr>
              <a:t>u16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Integer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i32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impl_integer_ops_num</a:t>
            </a:r>
            <a:r>
              <a:rPr sz="1600">
                <a:solidFill>
                  <a:srgbClr val="89DDFF"/>
                </a:solidFill>
                <a:latin typeface="Consolas"/>
              </a:rPr>
              <a:t>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792EA"/>
                </a:solidFill>
                <a:latin typeface="Consolas"/>
              </a:rPr>
              <a:t>i32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Integer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u32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impl_integer_ops_num</a:t>
            </a:r>
            <a:r>
              <a:rPr sz="1600">
                <a:solidFill>
                  <a:srgbClr val="89DDFF"/>
                </a:solidFill>
                <a:latin typeface="Consolas"/>
              </a:rPr>
              <a:t>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792EA"/>
                </a:solidFill>
                <a:latin typeface="Consolas"/>
              </a:rPr>
              <a:t>u32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Integer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i64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impl_integer_ops_num</a:t>
            </a:r>
            <a:r>
              <a:rPr sz="1600">
                <a:solidFill>
                  <a:srgbClr val="89DDFF"/>
                </a:solidFill>
                <a:latin typeface="Consolas"/>
              </a:rPr>
              <a:t>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792EA"/>
                </a:solidFill>
                <a:latin typeface="Consolas"/>
              </a:rPr>
              <a:t>i64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Integer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u64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impl_integer_ops_num</a:t>
            </a:r>
            <a:r>
              <a:rPr sz="1600">
                <a:solidFill>
                  <a:srgbClr val="89DDFF"/>
                </a:solidFill>
                <a:latin typeface="Consolas"/>
              </a:rPr>
              <a:t>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792EA"/>
                </a:solidFill>
                <a:latin typeface="Consolas"/>
              </a:rPr>
              <a:t>u64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Integer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i128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impl_integer_ops_num</a:t>
            </a:r>
            <a:r>
              <a:rPr sz="1600">
                <a:solidFill>
                  <a:srgbClr val="89DDFF"/>
                </a:solidFill>
                <a:latin typeface="Consolas"/>
              </a:rPr>
              <a:t>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792EA"/>
                </a:solidFill>
                <a:latin typeface="Consolas"/>
              </a:rPr>
              <a:t>i128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Integer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u128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impl_integer_ops_num</a:t>
            </a:r>
            <a:r>
              <a:rPr sz="1600">
                <a:solidFill>
                  <a:srgbClr val="89DDFF"/>
                </a:solidFill>
                <a:latin typeface="Consolas"/>
              </a:rPr>
              <a:t>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792EA"/>
                </a:solidFill>
                <a:latin typeface="Consolas"/>
              </a:rPr>
              <a:t>u128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Integer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isize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impl_integer_ops_num</a:t>
            </a:r>
            <a:r>
              <a:rPr sz="1600">
                <a:solidFill>
                  <a:srgbClr val="89DDFF"/>
                </a:solidFill>
                <a:latin typeface="Consolas"/>
              </a:rPr>
              <a:t>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792EA"/>
                </a:solidFill>
                <a:latin typeface="Consolas"/>
              </a:rPr>
              <a:t>isize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Integer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usize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impl_integer_ops_num</a:t>
            </a:r>
            <a:r>
              <a:rPr sz="1600">
                <a:solidFill>
                  <a:srgbClr val="89DDFF"/>
                </a:solidFill>
                <a:latin typeface="Consolas"/>
              </a:rPr>
              <a:t>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792EA"/>
                </a:solidFill>
                <a:latin typeface="Consolas"/>
              </a:rPr>
              <a:t>usize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Integer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Ipv4Addr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impl_integer_ops_ip</a:t>
            </a:r>
            <a:r>
              <a:rPr sz="1600">
                <a:solidFill>
                  <a:srgbClr val="89DDFF"/>
                </a:solidFill>
                <a:latin typeface="Consolas"/>
              </a:rPr>
              <a:t>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Ipv4Addr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u32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Integer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Ipv6Addr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impl_integer_ops_ip</a:t>
            </a:r>
            <a:r>
              <a:rPr sz="1600">
                <a:solidFill>
                  <a:srgbClr val="89DDFF"/>
                </a:solidFill>
                <a:latin typeface="Consolas"/>
              </a:rPr>
              <a:t>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Ipv6Addr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u128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Integer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char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impl_integer_ops_char</a:t>
            </a:r>
            <a:r>
              <a:rPr sz="1600">
                <a:solidFill>
                  <a:srgbClr val="89DDFF"/>
                </a:solidFill>
                <a:latin typeface="Consolas"/>
              </a:rPr>
              <a:t>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Can't use num_traits::PrimInt as a 'subclass'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because Rust worries that 'char' etc. might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8814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be added to it later (coherence).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TECHNIQUE NAME: macro-generated implementation.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main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x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u8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254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assert_eq!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x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add_one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255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assert_eq!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3E88D"/>
                </a:solidFill>
                <a:latin typeface="Consolas"/>
              </a:rPr>
              <a:t>'a'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add_one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3E88D"/>
                </a:solidFill>
                <a:latin typeface="Consolas"/>
              </a:rPr>
              <a:t>'b'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assert_eq!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792EA"/>
                </a:solidFill>
                <a:latin typeface="Consolas"/>
              </a:rPr>
              <a:t>char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min_value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char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MIN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assert_eq!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792EA"/>
                </a:solidFill>
                <a:latin typeface="Consolas"/>
              </a:rPr>
              <a:t>char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max_value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char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MAX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assert_eq!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Ipv4Addr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min_value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Ipv4Addr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from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F78C6C"/>
                </a:solidFill>
                <a:latin typeface="Consolas"/>
              </a:rPr>
              <a:t>0</a:t>
            </a:r>
            <a:r>
              <a:rPr sz="1600">
                <a:solidFill>
                  <a:srgbClr val="C792EA"/>
                </a:solidFill>
                <a:latin typeface="Consolas"/>
              </a:rPr>
              <a:t>u32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assert_eq!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Ipv4Addr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max_value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Ipv4Addr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from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792EA"/>
                </a:solidFill>
                <a:latin typeface="Consolas"/>
              </a:rPr>
              <a:t>u32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MAX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